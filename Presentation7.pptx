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3A1B"/>
    <a:srgbClr val="29B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6DAFB-E64A-564F-6C7B-CD8EE6EB66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CF84B-0206-CB0E-F73A-8577FCA41F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32E1E-E388-7BD0-8C8C-63C1998A9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65B6-C61E-4F12-B74C-F64C03D089F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91291-E6B4-4424-B953-3C300EA2E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13D40-C32B-EC4D-B992-B42B32430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93202-A50B-41BA-AD64-4055770D8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757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76D5F-9F79-0D19-D90F-DE97E8CCA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4A33E-3DB7-13B8-C03A-90FFBD71D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0F0B3-3C2B-333A-7B93-D638F2F90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65B6-C61E-4F12-B74C-F64C03D089F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CB2CC-4DCC-6AEE-2B43-53EEB5C2A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F3E63-2F22-2777-5213-82B82FFD9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93202-A50B-41BA-AD64-4055770D8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981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9111A-74D4-D1BE-3BA7-400451597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5B2AC-12C2-89DF-3043-D11EBF577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F1691-7C10-9563-9B62-BECE7FFB0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65B6-C61E-4F12-B74C-F64C03D089F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082CB-B393-023C-FB49-B57935ADF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DD904-31FF-8D1D-EBA3-CF94E8385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93202-A50B-41BA-AD64-4055770D8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682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7973D-2457-768E-F790-D37758109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4F7E0-6840-4B8A-8ACC-00FE8FBA4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46E0C6-60DC-F904-B547-C4AF0172A3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1251C2-1563-AABE-C206-679117DEB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65B6-C61E-4F12-B74C-F64C03D089F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21731-15E1-CCFE-88B3-09C129283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06F98-03DA-4458-2DBD-354F8F631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93202-A50B-41BA-AD64-4055770D8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764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D1E39-D93D-1507-EF6A-A92010DD2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1E3F90-E6C6-6D95-E067-416A537F4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22087A-69F2-B493-8F99-2826D458E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FCFD8C-3F98-07D4-38E5-13DC278774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0D61E2-DBFA-CB14-E034-9C227EAFCA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1630B8-B440-E28B-BCE9-84069E14C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65B6-C61E-4F12-B74C-F64C03D089F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FB7CA-5EFA-0D5B-741E-B0B026A1B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9DBD20-7398-0EAB-ED11-8137C074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93202-A50B-41BA-AD64-4055770D8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696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88AEA-61F6-7763-1882-1AB177719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079932-BCD5-AF47-3CB3-E98BEB74C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65B6-C61E-4F12-B74C-F64C03D089F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2DC182-535F-5167-3802-15EEDDA1C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27F2D8-7367-2CAB-B7BC-74E735E43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93202-A50B-41BA-AD64-4055770D8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938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E7E49B-A8D7-E78B-D975-804A2EA78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65B6-C61E-4F12-B74C-F64C03D089F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B6CC1F-FA8F-53B8-C153-316C007BD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F2254-6C61-846E-2CCB-05CE6F23A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93202-A50B-41BA-AD64-4055770D8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19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EA505-FBE7-C4EB-B2D7-1AACE1988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D20D5-36BB-9491-08F7-1BEBE7A24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813892-0E63-FDD3-30CB-44E249372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C516E4-2B98-C064-669A-3E84A9D24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65B6-C61E-4F12-B74C-F64C03D089F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9F7FD3-39EB-DDD6-B6B7-C9C9D6A18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CE657-97C7-FE75-4BD5-DF0D38945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93202-A50B-41BA-AD64-4055770D8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024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A8D4A-AE83-7AE4-84E0-8F8F676FE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53CE0A-DF5D-96C7-B7AA-4D740C2FCE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02533C-6CA1-4BA6-3E47-C73F73BBAF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AA628E-9A36-B89E-87C6-F259A9B05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65B6-C61E-4F12-B74C-F64C03D089F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624F7-D911-279F-7E9D-9D437DED2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4B26B-D992-EC12-D001-2CF2A1DF0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93202-A50B-41BA-AD64-4055770D8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705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6C182-4816-3437-12DA-DCE90C316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159994-5686-409D-647E-B9AD209B2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DA974-A92A-5822-AAF1-E0EE0C237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65B6-C61E-4F12-B74C-F64C03D089F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CACC4-277D-A9AF-107E-C3B72F6DC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11642-4439-33AF-8129-F253F93C4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93202-A50B-41BA-AD64-4055770D8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029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CC2F71-89C4-524D-A734-74790E81B2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3CE1B9-A15A-53EC-F25D-035B173A01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BAEAB-BA1D-4076-0B0B-EDEEAA04C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65B6-C61E-4F12-B74C-F64C03D089F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B3EC0-DBCF-C8F7-0133-9471D89DA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F21EF-DA7C-9686-2BDA-2A8416051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93202-A50B-41BA-AD64-4055770D8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911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D3E6B2-4FE0-7FA4-CF35-A092DB31A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5CB97-9F43-98BD-F990-F49FA29B9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AC08E-C292-C102-0933-25456E2BB4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065B6-C61E-4F12-B74C-F64C03D089F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6F505-0355-C44A-C964-CD1A8DFFF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BD61D-A08C-55B9-62AA-C1FCD209DE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D93202-A50B-41BA-AD64-4055770D8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023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1B1731-ADB4-1657-48B9-165299ED0BF3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9B6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892EF9-7618-7275-7516-39802D237B9D}"/>
              </a:ext>
            </a:extLst>
          </p:cNvPr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0F346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EA7E41-1119-5675-D8A1-F73FA3B2C848}"/>
              </a:ext>
            </a:extLst>
          </p:cNvPr>
          <p:cNvSpPr/>
          <p:nvPr/>
        </p:nvSpPr>
        <p:spPr>
          <a:xfrm>
            <a:off x="291690" y="1507691"/>
            <a:ext cx="3070943" cy="762001"/>
          </a:xfrm>
          <a:prstGeom prst="rect">
            <a:avLst/>
          </a:prstGeom>
          <a:solidFill>
            <a:srgbClr val="29B6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sz="4400" b="1" dirty="0">
                <a:solidFill>
                  <a:srgbClr val="FFFFFF"/>
                </a:solidFill>
              </a:rPr>
              <a:t>MEMBERS</a:t>
            </a:r>
            <a:endParaRPr lang="en-IN" sz="4400" b="1" dirty="0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8CDFDC-ABC4-4B77-432B-14E2BD35E0DD}"/>
              </a:ext>
            </a:extLst>
          </p:cNvPr>
          <p:cNvSpPr txBox="1"/>
          <p:nvPr/>
        </p:nvSpPr>
        <p:spPr>
          <a:xfrm>
            <a:off x="222864" y="2666998"/>
            <a:ext cx="8890000" cy="2554545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Suyash Jadhav – BTECH/10779/23  </a:t>
            </a:r>
          </a:p>
          <a:p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Shubham Raj – BTECH/10820/23</a:t>
            </a:r>
          </a:p>
          <a:p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Madhur Anand – BTECH/10650/23</a:t>
            </a:r>
          </a:p>
          <a:p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Shrishti Mishra – BTECH/10612/23</a:t>
            </a:r>
          </a:p>
          <a:p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Mihika Lakra – BTECH/10580/23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DF91B7-FDCF-9566-D241-A7C3F6CFCC69}"/>
              </a:ext>
            </a:extLst>
          </p:cNvPr>
          <p:cNvSpPr txBox="1"/>
          <p:nvPr/>
        </p:nvSpPr>
        <p:spPr>
          <a:xfrm>
            <a:off x="291690" y="402499"/>
            <a:ext cx="69905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u="sng" dirty="0">
                <a:solidFill>
                  <a:srgbClr val="00B0F0"/>
                </a:solidFill>
              </a:rPr>
              <a:t>AI – BASED SALES FORECASTING</a:t>
            </a:r>
            <a:endParaRPr lang="en-IN" sz="4000" b="1" u="sng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497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26D7C8-CF00-A94E-A245-DE1B4E5CFDAE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5C3A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0" tIns="228600" rtlCol="0" anchor="ctr"/>
          <a:lstStyle/>
          <a:p>
            <a:pPr algn="ctr"/>
            <a:r>
              <a:rPr lang="en-IN" sz="2800" b="1">
                <a:solidFill>
                  <a:srgbClr val="FFFFFF"/>
                </a:solidFill>
                <a:latin typeface="Calibri" panose="020F0502020204030204" pitchFamily="34" charset="0"/>
              </a:rPr>
              <a:t>Problem Statement &amp; Objectives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E797EA8-B900-184F-7684-7841F5E533F1}"/>
              </a:ext>
            </a:extLst>
          </p:cNvPr>
          <p:cNvSpPr/>
          <p:nvPr/>
        </p:nvSpPr>
        <p:spPr>
          <a:xfrm>
            <a:off x="508000" y="1397000"/>
            <a:ext cx="5334000" cy="482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DB72D4D-1B63-F08F-2201-2325F3A8B806}"/>
              </a:ext>
            </a:extLst>
          </p:cNvPr>
          <p:cNvSpPr/>
          <p:nvPr/>
        </p:nvSpPr>
        <p:spPr>
          <a:xfrm>
            <a:off x="762000" y="1587500"/>
            <a:ext cx="558800" cy="558800"/>
          </a:xfrm>
          <a:prstGeom prst="ellipse">
            <a:avLst/>
          </a:prstGeom>
          <a:solidFill>
            <a:srgbClr val="DC32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200" b="1" dirty="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8DEADB-725F-60F7-C9E1-F29BB11101DE}"/>
              </a:ext>
            </a:extLst>
          </p:cNvPr>
          <p:cNvSpPr txBox="1"/>
          <p:nvPr/>
        </p:nvSpPr>
        <p:spPr>
          <a:xfrm>
            <a:off x="1460500" y="1625600"/>
            <a:ext cx="406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 dirty="0">
                <a:solidFill>
                  <a:srgbClr val="DC3232"/>
                </a:solidFill>
              </a:rPr>
              <a:t>THE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455D81-11D5-9D81-32D7-52D1991C9E6A}"/>
              </a:ext>
            </a:extLst>
          </p:cNvPr>
          <p:cNvSpPr txBox="1"/>
          <p:nvPr/>
        </p:nvSpPr>
        <p:spPr>
          <a:xfrm>
            <a:off x="762000" y="2286000"/>
            <a:ext cx="4826000" cy="22262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5C3A1B"/>
                </a:solidFill>
                <a:latin typeface="Calibri" panose="020F0502020204030204" pitchFamily="34" charset="0"/>
              </a:rPr>
              <a:t>Unpredictable sales fluctuations cause inventory imbalances — overstocking wastes capital, while understocking loses revenue.</a:t>
            </a:r>
          </a:p>
          <a:p>
            <a:pPr>
              <a:spcAft>
                <a:spcPts val="800"/>
              </a:spcAft>
            </a:pPr>
            <a:endParaRPr lang="en-US" sz="1400" dirty="0">
              <a:solidFill>
                <a:srgbClr val="5C3A1B"/>
              </a:solidFill>
              <a:latin typeface="Calibri" panose="020F0502020204030204" pitchFamily="34" charset="0"/>
            </a:endParaRPr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5C3A1B"/>
                </a:solidFill>
                <a:latin typeface="Calibri" panose="020F0502020204030204" pitchFamily="34" charset="0"/>
              </a:rPr>
              <a:t>Reactive supply chain management means businesses are always catching up, never ahead.</a:t>
            </a:r>
          </a:p>
          <a:p>
            <a:pPr>
              <a:spcAft>
                <a:spcPts val="800"/>
              </a:spcAft>
            </a:pPr>
            <a:endParaRPr lang="en-US" sz="1400" dirty="0">
              <a:solidFill>
                <a:srgbClr val="5C3A1B"/>
              </a:solidFill>
              <a:latin typeface="Calibri" panose="020F0502020204030204" pitchFamily="34" charset="0"/>
            </a:endParaRPr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5C3A1B"/>
                </a:solidFill>
                <a:latin typeface="Calibri" panose="020F0502020204030204" pitchFamily="34" charset="0"/>
              </a:rPr>
              <a:t>Traditional forecasting methods fail to capture complex seasonal patterns and market shifts.</a:t>
            </a:r>
            <a:endParaRPr lang="en-IN" sz="1400" dirty="0">
              <a:solidFill>
                <a:srgbClr val="5C3A1B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BD8662-2F1B-2262-54E5-ACC8B04499BE}"/>
              </a:ext>
            </a:extLst>
          </p:cNvPr>
          <p:cNvSpPr/>
          <p:nvPr/>
        </p:nvSpPr>
        <p:spPr>
          <a:xfrm>
            <a:off x="6350000" y="1397000"/>
            <a:ext cx="5334000" cy="482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CD8AB27-DF4A-EBEA-7A47-7946221474A7}"/>
              </a:ext>
            </a:extLst>
          </p:cNvPr>
          <p:cNvSpPr/>
          <p:nvPr/>
        </p:nvSpPr>
        <p:spPr>
          <a:xfrm>
            <a:off x="6604000" y="1587500"/>
            <a:ext cx="558800" cy="558800"/>
          </a:xfrm>
          <a:prstGeom prst="ellipse">
            <a:avLst/>
          </a:prstGeom>
          <a:solidFill>
            <a:srgbClr val="29B6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rgbClr val="FFFF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7816A2-C77C-1936-86A3-877C9BF6C390}"/>
              </a:ext>
            </a:extLst>
          </p:cNvPr>
          <p:cNvSpPr txBox="1"/>
          <p:nvPr/>
        </p:nvSpPr>
        <p:spPr>
          <a:xfrm>
            <a:off x="7302500" y="1625600"/>
            <a:ext cx="406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 dirty="0">
                <a:solidFill>
                  <a:srgbClr val="29B6F6"/>
                </a:solidFill>
              </a:rPr>
              <a:t>OUR OBJECTIVE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B0C3A9-9C9E-02E8-550A-F0EB230D404A}"/>
              </a:ext>
            </a:extLst>
          </p:cNvPr>
          <p:cNvSpPr txBox="1"/>
          <p:nvPr/>
        </p:nvSpPr>
        <p:spPr>
          <a:xfrm>
            <a:off x="6604000" y="2286000"/>
            <a:ext cx="4826000" cy="22262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5C3A1B"/>
                </a:solidFill>
                <a:latin typeface="Calibri" panose="020F0502020204030204" pitchFamily="34" charset="0"/>
              </a:rPr>
              <a:t>Build an AI-driven time-series forecasting model using the Kaggle Superstore dataset.</a:t>
            </a:r>
          </a:p>
          <a:p>
            <a:pPr>
              <a:spcAft>
                <a:spcPts val="800"/>
              </a:spcAft>
            </a:pPr>
            <a:endParaRPr lang="en-US" sz="1400" dirty="0">
              <a:solidFill>
                <a:srgbClr val="5C3A1B"/>
              </a:solidFill>
              <a:latin typeface="Calibri" panose="020F0502020204030204" pitchFamily="34" charset="0"/>
            </a:endParaRPr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5C3A1B"/>
                </a:solidFill>
                <a:latin typeface="Calibri" panose="020F0502020204030204" pitchFamily="34" charset="0"/>
              </a:rPr>
              <a:t>Leverage Facebook Prophet to predict future daily sales with confidence intervals.</a:t>
            </a:r>
          </a:p>
          <a:p>
            <a:pPr>
              <a:spcAft>
                <a:spcPts val="800"/>
              </a:spcAft>
            </a:pPr>
            <a:endParaRPr lang="en-US" sz="1400" dirty="0">
              <a:solidFill>
                <a:srgbClr val="5C3A1B"/>
              </a:solidFill>
              <a:latin typeface="Calibri" panose="020F0502020204030204" pitchFamily="34" charset="0"/>
            </a:endParaRPr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5C3A1B"/>
                </a:solidFill>
                <a:latin typeface="Calibri" panose="020F0502020204030204" pitchFamily="34" charset="0"/>
              </a:rPr>
              <a:t>Enable proactive inventory decisions — move from reactive management to data-driven foresight.</a:t>
            </a:r>
            <a:endParaRPr lang="en-IN" sz="1400" dirty="0">
              <a:solidFill>
                <a:srgbClr val="5C3A1B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227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4EEBD2-3D80-6001-DCC3-B56424875213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5C3A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0" tIns="228600" rtlCol="0" anchor="ctr"/>
          <a:lstStyle/>
          <a:p>
            <a:pPr algn="ctr"/>
            <a:r>
              <a:rPr lang="en-IN" sz="2800" b="1">
                <a:solidFill>
                  <a:srgbClr val="FFFFFF"/>
                </a:solidFill>
              </a:rPr>
              <a:t>Dataset Overview &amp; Exploratory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45C5C0-981D-7F02-0A59-7E033AF2007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206500"/>
            <a:ext cx="5588000" cy="254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6486E3-54E6-F793-7728-DA61925A608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873500"/>
            <a:ext cx="5588000" cy="25400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C4D670B-7B4A-439B-0CDB-D472C9C9550B}"/>
              </a:ext>
            </a:extLst>
          </p:cNvPr>
          <p:cNvSpPr/>
          <p:nvPr/>
        </p:nvSpPr>
        <p:spPr>
          <a:xfrm>
            <a:off x="6350000" y="1206500"/>
            <a:ext cx="5461000" cy="11684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1114AD-6E8F-A32F-2D4E-F29E62B3BA55}"/>
              </a:ext>
            </a:extLst>
          </p:cNvPr>
          <p:cNvSpPr/>
          <p:nvPr/>
        </p:nvSpPr>
        <p:spPr>
          <a:xfrm>
            <a:off x="6350000" y="1206500"/>
            <a:ext cx="76200" cy="1168400"/>
          </a:xfrm>
          <a:prstGeom prst="rect">
            <a:avLst/>
          </a:prstGeom>
          <a:solidFill>
            <a:srgbClr val="29B6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CA02AC-2412-B407-FE69-A80BEC7DA680}"/>
              </a:ext>
            </a:extLst>
          </p:cNvPr>
          <p:cNvSpPr txBox="1"/>
          <p:nvPr/>
        </p:nvSpPr>
        <p:spPr>
          <a:xfrm>
            <a:off x="6604000" y="1358900"/>
            <a:ext cx="4953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000" b="1">
                <a:solidFill>
                  <a:srgbClr val="5C3A1B"/>
                </a:solidFill>
              </a:rPr>
              <a:t>9,994 Orders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5555D7-9483-4DF6-186F-00FF3C08BD03}"/>
              </a:ext>
            </a:extLst>
          </p:cNvPr>
          <p:cNvSpPr txBox="1"/>
          <p:nvPr/>
        </p:nvSpPr>
        <p:spPr>
          <a:xfrm>
            <a:off x="6604000" y="1841500"/>
            <a:ext cx="495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>
                <a:solidFill>
                  <a:srgbClr val="555555"/>
                </a:solidFill>
              </a:rPr>
              <a:t>Total transactions in dataset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4E3EE6B-08CA-5397-E9DC-3FE59F847449}"/>
              </a:ext>
            </a:extLst>
          </p:cNvPr>
          <p:cNvSpPr/>
          <p:nvPr/>
        </p:nvSpPr>
        <p:spPr>
          <a:xfrm>
            <a:off x="6350000" y="2578100"/>
            <a:ext cx="5461000" cy="11684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758D86-9D6D-E429-2543-164CA8EB4ABC}"/>
              </a:ext>
            </a:extLst>
          </p:cNvPr>
          <p:cNvSpPr/>
          <p:nvPr/>
        </p:nvSpPr>
        <p:spPr>
          <a:xfrm>
            <a:off x="6350000" y="2578100"/>
            <a:ext cx="76200" cy="1168400"/>
          </a:xfrm>
          <a:prstGeom prst="rect">
            <a:avLst/>
          </a:prstGeom>
          <a:solidFill>
            <a:srgbClr val="4CAF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B451E6-DEB4-6AE0-4C74-F2B9A6EED094}"/>
              </a:ext>
            </a:extLst>
          </p:cNvPr>
          <p:cNvSpPr txBox="1"/>
          <p:nvPr/>
        </p:nvSpPr>
        <p:spPr>
          <a:xfrm>
            <a:off x="6604000" y="2730500"/>
            <a:ext cx="4953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000" b="1">
                <a:solidFill>
                  <a:srgbClr val="5C3A1B"/>
                </a:solidFill>
              </a:rPr>
              <a:t>4 Regions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2CDA8D-ED3A-B7ED-6C2F-58297D66828D}"/>
              </a:ext>
            </a:extLst>
          </p:cNvPr>
          <p:cNvSpPr txBox="1"/>
          <p:nvPr/>
        </p:nvSpPr>
        <p:spPr>
          <a:xfrm>
            <a:off x="6604000" y="3213100"/>
            <a:ext cx="495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>
                <a:solidFill>
                  <a:srgbClr val="555555"/>
                </a:solidFill>
              </a:rPr>
              <a:t>West, East, Central, South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98BE2F8-C203-9D97-E0A4-D9E7D380882E}"/>
              </a:ext>
            </a:extLst>
          </p:cNvPr>
          <p:cNvSpPr/>
          <p:nvPr/>
        </p:nvSpPr>
        <p:spPr>
          <a:xfrm>
            <a:off x="6350000" y="3949700"/>
            <a:ext cx="5461000" cy="11684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E6D19B-C475-0C40-F37B-4747607B6603}"/>
              </a:ext>
            </a:extLst>
          </p:cNvPr>
          <p:cNvSpPr/>
          <p:nvPr/>
        </p:nvSpPr>
        <p:spPr>
          <a:xfrm>
            <a:off x="6350000" y="3949700"/>
            <a:ext cx="76200" cy="1168400"/>
          </a:xfrm>
          <a:prstGeom prst="rect">
            <a:avLst/>
          </a:prstGeom>
          <a:solidFill>
            <a:srgbClr val="FF9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F86F1C-DD9C-3C72-7C94-9B5F3EB7EA73}"/>
              </a:ext>
            </a:extLst>
          </p:cNvPr>
          <p:cNvSpPr txBox="1"/>
          <p:nvPr/>
        </p:nvSpPr>
        <p:spPr>
          <a:xfrm>
            <a:off x="6604000" y="4102100"/>
            <a:ext cx="4953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000" b="1">
                <a:solidFill>
                  <a:srgbClr val="5C3A1B"/>
                </a:solidFill>
              </a:rPr>
              <a:t>3 Categories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EC1410-E418-A93B-9F21-09DCF07777C6}"/>
              </a:ext>
            </a:extLst>
          </p:cNvPr>
          <p:cNvSpPr txBox="1"/>
          <p:nvPr/>
        </p:nvSpPr>
        <p:spPr>
          <a:xfrm>
            <a:off x="6604000" y="4584700"/>
            <a:ext cx="495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>
                <a:solidFill>
                  <a:srgbClr val="555555"/>
                </a:solidFill>
              </a:rPr>
              <a:t>Furniture, Tech, Office Supplies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F84047F-C48D-13B9-D0FE-F52FFB617FC1}"/>
              </a:ext>
            </a:extLst>
          </p:cNvPr>
          <p:cNvSpPr/>
          <p:nvPr/>
        </p:nvSpPr>
        <p:spPr>
          <a:xfrm>
            <a:off x="6350000" y="5321300"/>
            <a:ext cx="5461000" cy="11684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53BAA0-94DE-96B6-BDDD-0F03905A0C28}"/>
              </a:ext>
            </a:extLst>
          </p:cNvPr>
          <p:cNvSpPr/>
          <p:nvPr/>
        </p:nvSpPr>
        <p:spPr>
          <a:xfrm>
            <a:off x="6350000" y="5321300"/>
            <a:ext cx="76200" cy="1168400"/>
          </a:xfrm>
          <a:prstGeom prst="rect">
            <a:avLst/>
          </a:prstGeom>
          <a:solidFill>
            <a:srgbClr val="9C27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3420DE-510B-E2D2-BCC0-27777547AC85}"/>
              </a:ext>
            </a:extLst>
          </p:cNvPr>
          <p:cNvSpPr txBox="1"/>
          <p:nvPr/>
        </p:nvSpPr>
        <p:spPr>
          <a:xfrm>
            <a:off x="6604000" y="5473700"/>
            <a:ext cx="4953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000" b="1">
                <a:solidFill>
                  <a:srgbClr val="5C3A1B"/>
                </a:solidFill>
              </a:rPr>
              <a:t>4 Years Data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B49E01-4188-DF47-B9C2-B2746B371A8D}"/>
              </a:ext>
            </a:extLst>
          </p:cNvPr>
          <p:cNvSpPr txBox="1"/>
          <p:nvPr/>
        </p:nvSpPr>
        <p:spPr>
          <a:xfrm>
            <a:off x="6604000" y="5956300"/>
            <a:ext cx="495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>
                <a:solidFill>
                  <a:srgbClr val="555555"/>
                </a:solidFill>
              </a:rPr>
              <a:t>2015 – 2018 daily records</a:t>
            </a:r>
          </a:p>
        </p:txBody>
      </p:sp>
    </p:spTree>
    <p:extLst>
      <p:ext uri="{BB962C8B-B14F-4D97-AF65-F5344CB8AC3E}">
        <p14:creationId xmlns:p14="http://schemas.microsoft.com/office/powerpoint/2010/main" val="424451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4F1779-79B4-5C7D-C7B9-43474151FA97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5C3A1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0" tIns="228600" rtlCol="0" anchor="ctr"/>
          <a:lstStyle/>
          <a:p>
            <a:pPr algn="ctr"/>
            <a:r>
              <a:rPr lang="en-IN" sz="2800" b="1">
                <a:solidFill>
                  <a:srgbClr val="FFFFFF"/>
                </a:solidFill>
              </a:rPr>
              <a:t>Sales Insights — EDA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C96F98-1430-6722-AAF0-0BD88ED0CA1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206500"/>
            <a:ext cx="5588000" cy="3683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63526CE-F9D0-48CB-9234-2A40528D36A7}"/>
              </a:ext>
            </a:extLst>
          </p:cNvPr>
          <p:cNvSpPr/>
          <p:nvPr/>
        </p:nvSpPr>
        <p:spPr>
          <a:xfrm>
            <a:off x="381000" y="5016500"/>
            <a:ext cx="5588000" cy="635000"/>
          </a:xfrm>
          <a:prstGeom prst="roundRect">
            <a:avLst/>
          </a:prstGeom>
          <a:solidFill>
            <a:srgbClr val="1541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West region leads with ~$710K in total sales</a:t>
            </a:r>
            <a:endParaRPr lang="en-IN" sz="1300" b="1"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533077-8C62-0719-A3E3-00D9268DBAE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1206500"/>
            <a:ext cx="5334000" cy="36830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617DBDE-F2A1-B2AB-503B-157709666330}"/>
              </a:ext>
            </a:extLst>
          </p:cNvPr>
          <p:cNvSpPr/>
          <p:nvPr/>
        </p:nvSpPr>
        <p:spPr>
          <a:xfrm>
            <a:off x="6350000" y="5016500"/>
            <a:ext cx="5461000" cy="635000"/>
          </a:xfrm>
          <a:prstGeom prst="roundRect">
            <a:avLst/>
          </a:prstGeom>
          <a:solidFill>
            <a:srgbClr val="1541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Technology is the top category at 36.6% of sales</a:t>
            </a:r>
            <a:endParaRPr lang="en-IN" sz="1300" b="1" dirty="0">
              <a:solidFill>
                <a:srgbClr val="FFFF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84C15B-CBD5-1E4C-41AE-33263B5FB656}"/>
              </a:ext>
            </a:extLst>
          </p:cNvPr>
          <p:cNvSpPr txBox="1"/>
          <p:nvPr/>
        </p:nvSpPr>
        <p:spPr>
          <a:xfrm>
            <a:off x="381000" y="5778500"/>
            <a:ext cx="558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2800" b="1" dirty="0">
                <a:solidFill>
                  <a:srgbClr val="555555"/>
                </a:solidFill>
              </a:rPr>
              <a:t>Sales by Region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8F9BDD-AC08-B448-4B24-2B3D0DF5BE5B}"/>
              </a:ext>
            </a:extLst>
          </p:cNvPr>
          <p:cNvSpPr txBox="1"/>
          <p:nvPr/>
        </p:nvSpPr>
        <p:spPr>
          <a:xfrm>
            <a:off x="6350000" y="5778500"/>
            <a:ext cx="5461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2800" b="1" dirty="0">
                <a:solidFill>
                  <a:srgbClr val="555555"/>
                </a:solidFill>
              </a:rPr>
              <a:t>Sales by Category</a:t>
            </a:r>
          </a:p>
        </p:txBody>
      </p:sp>
    </p:spTree>
    <p:extLst>
      <p:ext uri="{BB962C8B-B14F-4D97-AF65-F5344CB8AC3E}">
        <p14:creationId xmlns:p14="http://schemas.microsoft.com/office/powerpoint/2010/main" val="1635350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98303-EBEF-D65A-DEEB-311B2765A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6084" y="1880849"/>
            <a:ext cx="5181600" cy="4351338"/>
          </a:xfrm>
          <a:solidFill>
            <a:srgbClr val="29B6F6"/>
          </a:solidFill>
        </p:spPr>
        <p:txBody>
          <a:bodyPr anchor="ctr">
            <a:normAutofit/>
          </a:bodyPr>
          <a:lstStyle/>
          <a:p>
            <a:r>
              <a:rPr lang="en-US" sz="2400" b="1" dirty="0"/>
              <a:t>Algorithm Used:</a:t>
            </a:r>
            <a:r>
              <a:rPr lang="en-US" sz="2400" dirty="0"/>
              <a:t> Facebook Prophet (an open-source time-series forecasting library).</a:t>
            </a:r>
            <a:endParaRPr lang="en-IN" sz="2400" dirty="0"/>
          </a:p>
          <a:p>
            <a:r>
              <a:rPr lang="en-US" sz="2400" b="1" dirty="0"/>
              <a:t>Purpose:</a:t>
            </a:r>
            <a:r>
              <a:rPr lang="en-US" sz="2400" dirty="0"/>
              <a:t> Designed specifically for analyzing business time-series data with strong seasonal effects and missing data points.</a:t>
            </a:r>
          </a:p>
          <a:p>
            <a:r>
              <a:rPr lang="en-US" sz="2400" b="1" dirty="0"/>
              <a:t>Target Variable:</a:t>
            </a:r>
            <a:r>
              <a:rPr lang="en-US" sz="2400" dirty="0"/>
              <a:t> Total Daily Sales Amount (y).</a:t>
            </a:r>
          </a:p>
          <a:p>
            <a:r>
              <a:rPr lang="en-US" sz="2400" b="1" dirty="0"/>
              <a:t>Time Feature:</a:t>
            </a:r>
            <a:r>
              <a:rPr lang="en-US" sz="2400" dirty="0"/>
              <a:t> Order Date (ds), aggregated at the daily level.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1ED37A-A7BF-08FB-8C36-FF8C9EBB6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rgbClr val="29B6F6"/>
          </a:solidFill>
        </p:spPr>
        <p:txBody>
          <a:bodyPr anchor="ctr">
            <a:noAutofit/>
          </a:bodyPr>
          <a:lstStyle/>
          <a:p>
            <a:r>
              <a:rPr lang="en-US" sz="2200" b="1" dirty="0"/>
              <a:t>Experiment Tracking</a:t>
            </a:r>
            <a:r>
              <a:rPr lang="en-US" sz="2200" dirty="0"/>
              <a:t>: Fully integrated with </a:t>
            </a:r>
            <a:r>
              <a:rPr lang="en-US" sz="2200" b="1" dirty="0" err="1"/>
              <a:t>MLflow</a:t>
            </a:r>
            <a:r>
              <a:rPr lang="en-US" sz="2200" dirty="0"/>
              <a:t> to log all training runs, parameters, and evaluation metrics automatically.</a:t>
            </a:r>
          </a:p>
          <a:p>
            <a:r>
              <a:rPr lang="en-US" sz="2200" b="1" dirty="0"/>
              <a:t>Model Registry:</a:t>
            </a:r>
            <a:r>
              <a:rPr lang="en-US" sz="2200" dirty="0"/>
              <a:t> The best model is registered within the Microsoft Fabric Model Registry under the name </a:t>
            </a:r>
            <a:r>
              <a:rPr lang="en-US" sz="2200" dirty="0" err="1"/>
              <a:t>prophet_sales_forecaster</a:t>
            </a:r>
            <a:r>
              <a:rPr lang="en-US" sz="2200" dirty="0"/>
              <a:t>.</a:t>
            </a:r>
          </a:p>
          <a:p>
            <a:r>
              <a:rPr lang="en-US" sz="2200" b="1" dirty="0"/>
              <a:t>Model Signature:</a:t>
            </a:r>
            <a:r>
              <a:rPr lang="en-US" sz="2200" dirty="0"/>
              <a:t> </a:t>
            </a:r>
            <a:r>
              <a:rPr lang="en-US" sz="2200" dirty="0" err="1"/>
              <a:t>MLflow</a:t>
            </a:r>
            <a:r>
              <a:rPr lang="en-US" sz="2200" dirty="0"/>
              <a:t> automatically infers and logs the input/output schema (the model signature), ensuring that the batch scoring pipeline knows exactly what data types to pass in.</a:t>
            </a:r>
            <a:endParaRPr lang="en-IN" sz="2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66AFC3-B64E-6957-8EC4-C4176A757FDF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5C3A1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0" tIns="228600"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Model Overview and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C2E1EC-56E7-965A-6184-347D3A1A030E}"/>
              </a:ext>
            </a:extLst>
          </p:cNvPr>
          <p:cNvSpPr txBox="1"/>
          <p:nvPr/>
        </p:nvSpPr>
        <p:spPr>
          <a:xfrm>
            <a:off x="833898" y="1322049"/>
            <a:ext cx="406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 dirty="0">
                <a:solidFill>
                  <a:srgbClr val="DC3232"/>
                </a:solidFill>
              </a:rPr>
              <a:t>A</a:t>
            </a:r>
            <a:r>
              <a:rPr lang="en-IN" sz="2400" b="1" dirty="0" err="1">
                <a:solidFill>
                  <a:srgbClr val="DC3232"/>
                </a:solidFill>
              </a:rPr>
              <a:t>lgorithm</a:t>
            </a:r>
            <a:endParaRPr lang="en-IN" sz="2400" b="1" dirty="0">
              <a:solidFill>
                <a:srgbClr val="DC3232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DEAB580-F596-E1E1-C357-9337F2EDFFFC}"/>
              </a:ext>
            </a:extLst>
          </p:cNvPr>
          <p:cNvSpPr/>
          <p:nvPr/>
        </p:nvSpPr>
        <p:spPr>
          <a:xfrm>
            <a:off x="275098" y="1322049"/>
            <a:ext cx="558800" cy="558800"/>
          </a:xfrm>
          <a:prstGeom prst="ellipse">
            <a:avLst/>
          </a:prstGeom>
          <a:solidFill>
            <a:srgbClr val="DC32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IN" sz="2200" b="1" dirty="0">
              <a:solidFill>
                <a:srgbClr val="FFFFFF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3606B4-0792-A172-715A-F17B6B0063BA}"/>
              </a:ext>
            </a:extLst>
          </p:cNvPr>
          <p:cNvSpPr/>
          <p:nvPr/>
        </p:nvSpPr>
        <p:spPr>
          <a:xfrm>
            <a:off x="6075518" y="1273481"/>
            <a:ext cx="558800" cy="558800"/>
          </a:xfrm>
          <a:prstGeom prst="ellipse">
            <a:avLst/>
          </a:prstGeom>
          <a:solidFill>
            <a:srgbClr val="29B6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</a:rPr>
              <a:t>2</a:t>
            </a:r>
            <a:endParaRPr lang="en-IN" b="1" dirty="0">
              <a:solidFill>
                <a:srgbClr val="FFFFF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30BB72-B0A0-9321-8B66-B6CBA09495C0}"/>
              </a:ext>
            </a:extLst>
          </p:cNvPr>
          <p:cNvSpPr txBox="1"/>
          <p:nvPr/>
        </p:nvSpPr>
        <p:spPr>
          <a:xfrm>
            <a:off x="6634318" y="136488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9B6F6"/>
                </a:solidFill>
              </a:rPr>
              <a:t>M</a:t>
            </a:r>
            <a:r>
              <a:rPr lang="en-IN" sz="2400" b="1" dirty="0" err="1">
                <a:solidFill>
                  <a:srgbClr val="29B6F6"/>
                </a:solidFill>
              </a:rPr>
              <a:t>odel</a:t>
            </a:r>
            <a:r>
              <a:rPr lang="en-IN" sz="2400" b="1" dirty="0">
                <a:solidFill>
                  <a:srgbClr val="29B6F6"/>
                </a:solidFill>
              </a:rPr>
              <a:t> Governance and Tracking</a:t>
            </a:r>
          </a:p>
        </p:txBody>
      </p:sp>
    </p:spTree>
    <p:extLst>
      <p:ext uri="{BB962C8B-B14F-4D97-AF65-F5344CB8AC3E}">
        <p14:creationId xmlns:p14="http://schemas.microsoft.com/office/powerpoint/2010/main" val="103395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4D644-CC1E-989D-F6DF-721754262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69226-0E98-1FA0-10BD-6D229502D8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6084" y="1880849"/>
            <a:ext cx="5181600" cy="4351338"/>
          </a:xfrm>
          <a:solidFill>
            <a:srgbClr val="29B6F6"/>
          </a:solidFill>
        </p:spPr>
        <p:txBody>
          <a:bodyPr anchor="ctr">
            <a:normAutofit fontScale="92500"/>
          </a:bodyPr>
          <a:lstStyle/>
          <a:p>
            <a:r>
              <a:rPr lang="en-US" sz="2400" b="1" dirty="0"/>
              <a:t>Captures Business Cycles:</a:t>
            </a:r>
            <a:r>
              <a:rPr lang="en-US" sz="2400" dirty="0"/>
              <a:t> Explicitly uses yearly and weekly seasonality to detect macroeconomic trends and day-of-week patterns.</a:t>
            </a:r>
          </a:p>
          <a:p>
            <a:r>
              <a:rPr lang="en-US" sz="2400" b="1" dirty="0"/>
              <a:t>Multiplicative Scaling:</a:t>
            </a:r>
            <a:r>
              <a:rPr lang="en-US" sz="2400" dirty="0"/>
              <a:t> Configured with "multiplicative" seasonality, ensuring that as overall sales volume grows, seasonal peak variations scale proportionally with it.</a:t>
            </a:r>
          </a:p>
          <a:p>
            <a:r>
              <a:rPr lang="en-US" sz="2400" b="1" dirty="0"/>
              <a:t>Optimized Trend Flexibility:</a:t>
            </a:r>
            <a:r>
              <a:rPr lang="en-US" sz="2400" dirty="0"/>
              <a:t> Uses a </a:t>
            </a:r>
            <a:r>
              <a:rPr lang="en-US" sz="1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change </a:t>
            </a:r>
            <a:r>
              <a:rPr lang="en-US" sz="19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point_prior_scale</a:t>
            </a:r>
            <a:r>
              <a:rPr lang="en-US" sz="1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dirty="0"/>
              <a:t>of 0.05 to perfectly balance the model against underfitting (too stiff) and overfitting (too volatile).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5D78F0-11F5-5D03-3D72-F1258378A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rgbClr val="29B6F6"/>
          </a:solidFill>
        </p:spPr>
        <p:txBody>
          <a:bodyPr anchor="ctr">
            <a:noAutofit/>
          </a:bodyPr>
          <a:lstStyle/>
          <a:p>
            <a:r>
              <a:rPr lang="en-IN" sz="2200" b="1" dirty="0"/>
              <a:t>Accuracy Tracking:</a:t>
            </a:r>
            <a:r>
              <a:rPr lang="en-IN" sz="2200" dirty="0"/>
              <a:t> Continuously monitors in-sample error metrics including MAE (dollar error), RMSE (stability), and MAPE (percentage error).</a:t>
            </a:r>
          </a:p>
          <a:p>
            <a:r>
              <a:rPr lang="en-US" sz="2200" b="1" dirty="0"/>
              <a:t>Rigorous Cross-Validation:</a:t>
            </a:r>
            <a:r>
              <a:rPr lang="en-US" sz="2200" dirty="0"/>
              <a:t> Utilizes a time-series rolling window approach for out-of-sample testing (365-day initial training window, sliding forward by 90 days, evaluated on a 30-day hidden future period).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2FAFB4-D7E4-4C24-9D0F-671457A4FFFB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5C3A1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0" tIns="228600" rtlCol="0" anchor="ctr"/>
          <a:lstStyle/>
          <a:p>
            <a:pPr algn="ctr"/>
            <a:r>
              <a:rPr lang="en-IN" sz="2800" b="1" dirty="0"/>
              <a:t>Predictive </a:t>
            </a:r>
            <a:r>
              <a:rPr lang="en-IN" sz="2800" b="1" dirty="0" err="1"/>
              <a:t>Modeling</a:t>
            </a:r>
            <a:r>
              <a:rPr lang="en-IN" sz="2800" b="1" dirty="0"/>
              <a:t> Features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C5167-29F2-F7ED-8C6B-D10A5CCD497C}"/>
              </a:ext>
            </a:extLst>
          </p:cNvPr>
          <p:cNvSpPr txBox="1"/>
          <p:nvPr/>
        </p:nvSpPr>
        <p:spPr>
          <a:xfrm>
            <a:off x="833897" y="1322049"/>
            <a:ext cx="4632837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DC3232"/>
                </a:solidFill>
              </a:rPr>
              <a:t>Algorithm Configuration and Seasonality</a:t>
            </a:r>
            <a:endParaRPr lang="en-IN" sz="2000" b="1" dirty="0">
              <a:solidFill>
                <a:srgbClr val="DC3232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E4A3D16-F68C-8BAE-766E-ECB5AF81A982}"/>
              </a:ext>
            </a:extLst>
          </p:cNvPr>
          <p:cNvSpPr/>
          <p:nvPr/>
        </p:nvSpPr>
        <p:spPr>
          <a:xfrm>
            <a:off x="275098" y="1322049"/>
            <a:ext cx="558800" cy="558800"/>
          </a:xfrm>
          <a:prstGeom prst="ellipse">
            <a:avLst/>
          </a:prstGeom>
          <a:solidFill>
            <a:srgbClr val="DC32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IN" sz="2200" b="1" dirty="0">
              <a:solidFill>
                <a:srgbClr val="FFFFFF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A19E322-56F1-0F61-3674-9F78FD3245BE}"/>
              </a:ext>
            </a:extLst>
          </p:cNvPr>
          <p:cNvSpPr/>
          <p:nvPr/>
        </p:nvSpPr>
        <p:spPr>
          <a:xfrm>
            <a:off x="6075518" y="1273481"/>
            <a:ext cx="558800" cy="558800"/>
          </a:xfrm>
          <a:prstGeom prst="ellipse">
            <a:avLst/>
          </a:prstGeom>
          <a:solidFill>
            <a:srgbClr val="29B6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</a:rPr>
              <a:t>2</a:t>
            </a:r>
            <a:endParaRPr lang="en-IN" b="1" dirty="0">
              <a:solidFill>
                <a:srgbClr val="FFFFF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886A97-3EC2-A5C6-40E9-7327D82294E4}"/>
              </a:ext>
            </a:extLst>
          </p:cNvPr>
          <p:cNvSpPr txBox="1"/>
          <p:nvPr/>
        </p:nvSpPr>
        <p:spPr>
          <a:xfrm>
            <a:off x="6634318" y="136488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9B6F6"/>
                </a:solidFill>
              </a:rPr>
              <a:t>Performance Evaluation and Validation</a:t>
            </a:r>
            <a:endParaRPr lang="en-IN" sz="2000" b="1" dirty="0">
              <a:solidFill>
                <a:srgbClr val="29B6F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767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3E0319-A3CE-D304-1756-CC50244C0879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29B6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0" tIns="228600" rtlCol="0" anchor="ctr"/>
          <a:lstStyle/>
          <a:p>
            <a:pPr algn="ctr"/>
            <a:r>
              <a:rPr lang="en-IN" sz="2800" b="1" dirty="0">
                <a:solidFill>
                  <a:srgbClr val="5C3A1B"/>
                </a:solidFill>
              </a:rPr>
              <a:t>Model Architecture — Facebook Prophet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0E030D8-DA59-118D-63D7-DE3E94C474EA}"/>
              </a:ext>
            </a:extLst>
          </p:cNvPr>
          <p:cNvSpPr/>
          <p:nvPr/>
        </p:nvSpPr>
        <p:spPr>
          <a:xfrm>
            <a:off x="330200" y="1079500"/>
            <a:ext cx="2032000" cy="1651000"/>
          </a:xfrm>
          <a:prstGeom prst="roundRect">
            <a:avLst/>
          </a:prstGeom>
          <a:solidFill>
            <a:srgbClr val="29B6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0320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</a:rPr>
              <a:t>Input Data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</a:rPr>
              <a:t>ds = Date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</a:rPr>
              <a:t>y = Sales</a:t>
            </a:r>
            <a:endParaRPr lang="en-IN" sz="16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2DF3AD4E-B3AA-33CA-46D4-D4E31C0B0D49}"/>
              </a:ext>
            </a:extLst>
          </p:cNvPr>
          <p:cNvSpPr/>
          <p:nvPr/>
        </p:nvSpPr>
        <p:spPr>
          <a:xfrm>
            <a:off x="2489200" y="1968500"/>
            <a:ext cx="330200" cy="508000"/>
          </a:xfrm>
          <a:prstGeom prst="rightArrow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376F03F-9A46-0970-9FA1-3477F01B5EC8}"/>
              </a:ext>
            </a:extLst>
          </p:cNvPr>
          <p:cNvSpPr/>
          <p:nvPr/>
        </p:nvSpPr>
        <p:spPr>
          <a:xfrm>
            <a:off x="2692400" y="1143000"/>
            <a:ext cx="2032000" cy="1651000"/>
          </a:xfrm>
          <a:prstGeom prst="roundRect">
            <a:avLst/>
          </a:prstGeom>
          <a:solidFill>
            <a:srgbClr val="4CAF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03200" rtlCol="0" anchor="ctr"/>
          <a:lstStyle/>
          <a:p>
            <a:pPr algn="ctr"/>
            <a:r>
              <a:rPr lang="en-IN" sz="1600" b="1" dirty="0">
                <a:solidFill>
                  <a:srgbClr val="FFFFFF"/>
                </a:solidFill>
                <a:latin typeface="Calibri" panose="020F0502020204030204" pitchFamily="34" charset="0"/>
              </a:rPr>
              <a:t>Trend</a:t>
            </a:r>
          </a:p>
          <a:p>
            <a:pPr algn="ctr"/>
            <a:r>
              <a:rPr lang="en-IN" sz="1600" b="1" dirty="0">
                <a:solidFill>
                  <a:srgbClr val="FFFFFF"/>
                </a:solidFill>
                <a:latin typeface="Calibri" panose="020F0502020204030204" pitchFamily="34" charset="0"/>
              </a:rPr>
              <a:t>Growth over</a:t>
            </a:r>
          </a:p>
          <a:p>
            <a:pPr algn="ctr"/>
            <a:r>
              <a:rPr lang="en-IN" sz="1600" b="1" dirty="0">
                <a:solidFill>
                  <a:srgbClr val="FFFFFF"/>
                </a:solidFill>
                <a:latin typeface="Calibri" panose="020F0502020204030204" pitchFamily="34" charset="0"/>
              </a:rPr>
              <a:t>time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8BCD7DB-4978-0B0A-650C-B0CCCDA137FB}"/>
              </a:ext>
            </a:extLst>
          </p:cNvPr>
          <p:cNvSpPr/>
          <p:nvPr/>
        </p:nvSpPr>
        <p:spPr>
          <a:xfrm>
            <a:off x="4851400" y="1968500"/>
            <a:ext cx="330200" cy="508000"/>
          </a:xfrm>
          <a:prstGeom prst="rightArrow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056A528-6C81-158C-2212-A8960A60FC73}"/>
              </a:ext>
            </a:extLst>
          </p:cNvPr>
          <p:cNvSpPr/>
          <p:nvPr/>
        </p:nvSpPr>
        <p:spPr>
          <a:xfrm>
            <a:off x="5105400" y="1174750"/>
            <a:ext cx="2032000" cy="1651000"/>
          </a:xfrm>
          <a:prstGeom prst="roundRect">
            <a:avLst/>
          </a:prstGeom>
          <a:solidFill>
            <a:srgbClr val="FF9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03200" rtlCol="0" anchor="ctr"/>
          <a:lstStyle/>
          <a:p>
            <a:pPr algn="ctr"/>
            <a:r>
              <a:rPr lang="en-IN" sz="1600" b="1" dirty="0">
                <a:solidFill>
                  <a:srgbClr val="FFFFFF"/>
                </a:solidFill>
                <a:latin typeface="Calibri" panose="020F0502020204030204" pitchFamily="34" charset="0"/>
              </a:rPr>
              <a:t>Seasonality</a:t>
            </a:r>
          </a:p>
          <a:p>
            <a:pPr algn="ctr"/>
            <a:r>
              <a:rPr lang="en-IN" sz="1600" b="1" dirty="0">
                <a:solidFill>
                  <a:srgbClr val="FFFFFF"/>
                </a:solidFill>
                <a:latin typeface="Calibri" panose="020F0502020204030204" pitchFamily="34" charset="0"/>
              </a:rPr>
              <a:t>Weekly +</a:t>
            </a:r>
          </a:p>
          <a:p>
            <a:pPr algn="ctr"/>
            <a:r>
              <a:rPr lang="en-IN" sz="1600" b="1" dirty="0">
                <a:solidFill>
                  <a:srgbClr val="FFFFFF"/>
                </a:solidFill>
                <a:latin typeface="Calibri" panose="020F0502020204030204" pitchFamily="34" charset="0"/>
              </a:rPr>
              <a:t>Yearly cycles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BA62EB4-288F-9248-F3CB-85B46F61D06B}"/>
              </a:ext>
            </a:extLst>
          </p:cNvPr>
          <p:cNvSpPr/>
          <p:nvPr/>
        </p:nvSpPr>
        <p:spPr>
          <a:xfrm>
            <a:off x="7213600" y="1968500"/>
            <a:ext cx="330200" cy="508000"/>
          </a:xfrm>
          <a:prstGeom prst="rightArrow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C2866F-BCD7-8C3B-9133-B48D73C3D29B}"/>
              </a:ext>
            </a:extLst>
          </p:cNvPr>
          <p:cNvSpPr/>
          <p:nvPr/>
        </p:nvSpPr>
        <p:spPr>
          <a:xfrm>
            <a:off x="7467600" y="1174750"/>
            <a:ext cx="2032000" cy="1651000"/>
          </a:xfrm>
          <a:prstGeom prst="roundRect">
            <a:avLst/>
          </a:prstGeom>
          <a:solidFill>
            <a:srgbClr val="F443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03200" rtlCol="0" anchor="ctr"/>
          <a:lstStyle/>
          <a:p>
            <a:pPr algn="ctr"/>
            <a:r>
              <a:rPr lang="en-IN" sz="1600" b="1" dirty="0">
                <a:solidFill>
                  <a:srgbClr val="FFFFFF"/>
                </a:solidFill>
                <a:latin typeface="Calibri" panose="020F0502020204030204" pitchFamily="34" charset="0"/>
              </a:rPr>
              <a:t>Noise</a:t>
            </a:r>
          </a:p>
          <a:p>
            <a:pPr algn="ctr"/>
            <a:r>
              <a:rPr lang="en-IN" sz="1600" b="1" dirty="0">
                <a:solidFill>
                  <a:srgbClr val="FFFFFF"/>
                </a:solidFill>
                <a:latin typeface="Calibri" panose="020F0502020204030204" pitchFamily="34" charset="0"/>
              </a:rPr>
              <a:t>Random market</a:t>
            </a:r>
          </a:p>
          <a:p>
            <a:pPr algn="ctr"/>
            <a:r>
              <a:rPr lang="en-IN" sz="1600" b="1" dirty="0">
                <a:solidFill>
                  <a:srgbClr val="FFFFFF"/>
                </a:solidFill>
                <a:latin typeface="Calibri" panose="020F0502020204030204" pitchFamily="34" charset="0"/>
              </a:rPr>
              <a:t>variation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847245E-863E-8E18-33CE-B78996CF25AA}"/>
              </a:ext>
            </a:extLst>
          </p:cNvPr>
          <p:cNvSpPr/>
          <p:nvPr/>
        </p:nvSpPr>
        <p:spPr>
          <a:xfrm>
            <a:off x="9575800" y="1968500"/>
            <a:ext cx="330200" cy="508000"/>
          </a:xfrm>
          <a:prstGeom prst="rightArrow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DAD55CC-F016-9194-C71E-3173C6063497}"/>
              </a:ext>
            </a:extLst>
          </p:cNvPr>
          <p:cNvSpPr/>
          <p:nvPr/>
        </p:nvSpPr>
        <p:spPr>
          <a:xfrm>
            <a:off x="9829800" y="1174750"/>
            <a:ext cx="2032000" cy="1651000"/>
          </a:xfrm>
          <a:prstGeom prst="roundRect">
            <a:avLst/>
          </a:prstGeom>
          <a:solidFill>
            <a:srgbClr val="9C27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0320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</a:rPr>
              <a:t>Output</a:t>
            </a:r>
          </a:p>
          <a:p>
            <a:pPr algn="ctr"/>
            <a:r>
              <a:rPr lang="en-US" sz="1600" b="1" dirty="0" err="1">
                <a:solidFill>
                  <a:srgbClr val="FFFFFF"/>
                </a:solidFill>
                <a:latin typeface="Calibri" panose="020F0502020204030204" pitchFamily="34" charset="0"/>
              </a:rPr>
              <a:t>yhat</a:t>
            </a: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</a:rPr>
              <a:t>, upper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</a:rPr>
              <a:t>lower bounds</a:t>
            </a:r>
            <a:endParaRPr lang="en-IN" sz="16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0AAE637-0F61-6D55-C788-1E6C7A8F17BD}"/>
              </a:ext>
            </a:extLst>
          </p:cNvPr>
          <p:cNvSpPr/>
          <p:nvPr/>
        </p:nvSpPr>
        <p:spPr>
          <a:xfrm>
            <a:off x="762000" y="2952750"/>
            <a:ext cx="10668000" cy="889000"/>
          </a:xfrm>
          <a:prstGeom prst="roundRect">
            <a:avLst/>
          </a:prstGeom>
          <a:solidFill>
            <a:srgbClr val="0F2850"/>
          </a:solidFill>
          <a:ln w="19050">
            <a:solidFill>
              <a:srgbClr val="29B6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28600" rtlCol="0" anchor="ctr"/>
          <a:lstStyle/>
          <a:p>
            <a:pPr algn="ctr"/>
            <a:r>
              <a:rPr lang="fr-FR" b="1" dirty="0" err="1">
                <a:solidFill>
                  <a:srgbClr val="29B6F6"/>
                </a:solidFill>
                <a:latin typeface="Consolas" panose="020B0609020204030204" pitchFamily="49" charset="0"/>
              </a:rPr>
              <a:t>Prophet</a:t>
            </a:r>
            <a:r>
              <a:rPr lang="fr-FR" b="1" dirty="0">
                <a:solidFill>
                  <a:srgbClr val="29B6F6"/>
                </a:solidFill>
                <a:latin typeface="Consolas" panose="020B0609020204030204" pitchFamily="49" charset="0"/>
              </a:rPr>
              <a:t> Formula:   y(t)  =  trend(t)  +  </a:t>
            </a:r>
            <a:r>
              <a:rPr lang="fr-FR" b="1" dirty="0" err="1">
                <a:solidFill>
                  <a:srgbClr val="29B6F6"/>
                </a:solidFill>
                <a:latin typeface="Consolas" panose="020B0609020204030204" pitchFamily="49" charset="0"/>
              </a:rPr>
              <a:t>seasonality</a:t>
            </a:r>
            <a:r>
              <a:rPr lang="fr-FR" b="1" dirty="0">
                <a:solidFill>
                  <a:srgbClr val="29B6F6"/>
                </a:solidFill>
                <a:latin typeface="Consolas" panose="020B0609020204030204" pitchFamily="49" charset="0"/>
              </a:rPr>
              <a:t>(t)  +  noise(t)</a:t>
            </a:r>
            <a:endParaRPr lang="en-IN" b="1" dirty="0">
              <a:solidFill>
                <a:srgbClr val="29B6F6"/>
              </a:solidFill>
              <a:latin typeface="Consolas" panose="020B0609020204030204" pitchFamily="49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93A563D-3F38-2F98-BFFE-6AA24DB6BE0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968750"/>
            <a:ext cx="10668000" cy="263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656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D1009F-3827-3EE4-FB34-A2AAACC244F7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5C3A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0" tIns="228600" rtlCol="0" anchor="ctr"/>
          <a:lstStyle/>
          <a:p>
            <a:pPr algn="ctr"/>
            <a:r>
              <a:rPr lang="en-US" sz="2800" b="1">
                <a:solidFill>
                  <a:srgbClr val="FFFFFF"/>
                </a:solidFill>
              </a:rPr>
              <a:t>Forecast Results — Actual vs Predicted</a:t>
            </a:r>
            <a:endParaRPr lang="en-IN" sz="2800" b="1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88E859-5C4D-6C62-0027-9BB48BFC3EE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206500"/>
            <a:ext cx="7112000" cy="3683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CD3656A-F621-F636-C040-32162C2126BE}"/>
              </a:ext>
            </a:extLst>
          </p:cNvPr>
          <p:cNvSpPr/>
          <p:nvPr/>
        </p:nvSpPr>
        <p:spPr>
          <a:xfrm>
            <a:off x="7810500" y="1206500"/>
            <a:ext cx="4064000" cy="508000"/>
          </a:xfrm>
          <a:prstGeom prst="rect">
            <a:avLst/>
          </a:prstGeom>
          <a:solidFill>
            <a:srgbClr val="5C3A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7000"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</a:rPr>
              <a:t>Future Predictions (Jan 2019)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3C7764-0943-1B49-E257-78937590EBBC}"/>
              </a:ext>
            </a:extLst>
          </p:cNvPr>
          <p:cNvSpPr/>
          <p:nvPr/>
        </p:nvSpPr>
        <p:spPr>
          <a:xfrm>
            <a:off x="7810500" y="1714500"/>
            <a:ext cx="4064000" cy="3175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62B12F-8BF7-4683-334E-688BFD352CDF}"/>
              </a:ext>
            </a:extLst>
          </p:cNvPr>
          <p:cNvSpPr txBox="1"/>
          <p:nvPr/>
        </p:nvSpPr>
        <p:spPr>
          <a:xfrm>
            <a:off x="7874000" y="1727200"/>
            <a:ext cx="203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>
                <a:solidFill>
                  <a:srgbClr val="5C3A1B"/>
                </a:solidFill>
                <a:latin typeface="Consolas" panose="020B0609020204030204" pitchFamily="49" charset="0"/>
              </a:rPr>
              <a:t>2019-01-20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FE8C52-12A7-2B0A-3E59-CDE9CDAC481E}"/>
              </a:ext>
            </a:extLst>
          </p:cNvPr>
          <p:cNvSpPr txBox="1"/>
          <p:nvPr/>
        </p:nvSpPr>
        <p:spPr>
          <a:xfrm>
            <a:off x="10033000" y="1727200"/>
            <a:ext cx="177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 b="1">
                <a:solidFill>
                  <a:srgbClr val="156432"/>
                </a:solidFill>
                <a:latin typeface="Consolas" panose="020B0609020204030204" pitchFamily="49" charset="0"/>
              </a:rPr>
              <a:t>$1,734.61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945B39-DB3D-671A-FFBD-52D912FB08E0}"/>
              </a:ext>
            </a:extLst>
          </p:cNvPr>
          <p:cNvSpPr/>
          <p:nvPr/>
        </p:nvSpPr>
        <p:spPr>
          <a:xfrm>
            <a:off x="7810500" y="2032000"/>
            <a:ext cx="4064000" cy="317500"/>
          </a:xfrm>
          <a:prstGeom prst="rect">
            <a:avLst/>
          </a:prstGeom>
          <a:solidFill>
            <a:srgbClr val="EBF2FA"/>
          </a:solidFill>
          <a:ln w="6350">
            <a:solidFill>
              <a:srgbClr val="DC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1E07F6-2106-DC5E-C3E8-839AEC5E26D7}"/>
              </a:ext>
            </a:extLst>
          </p:cNvPr>
          <p:cNvSpPr txBox="1"/>
          <p:nvPr/>
        </p:nvSpPr>
        <p:spPr>
          <a:xfrm>
            <a:off x="7874000" y="2044700"/>
            <a:ext cx="203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>
                <a:solidFill>
                  <a:srgbClr val="5C3A1B"/>
                </a:solidFill>
                <a:latin typeface="Consolas" panose="020B0609020204030204" pitchFamily="49" charset="0"/>
              </a:rPr>
              <a:t>2019-01-21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E4F9C0-A0C7-C811-3F21-B61C269FB39D}"/>
              </a:ext>
            </a:extLst>
          </p:cNvPr>
          <p:cNvSpPr txBox="1"/>
          <p:nvPr/>
        </p:nvSpPr>
        <p:spPr>
          <a:xfrm>
            <a:off x="10033000" y="2044700"/>
            <a:ext cx="177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 b="1">
                <a:solidFill>
                  <a:srgbClr val="156432"/>
                </a:solidFill>
                <a:latin typeface="Consolas" panose="020B0609020204030204" pitchFamily="49" charset="0"/>
              </a:rPr>
              <a:t>$1,666.54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4C257F-E65A-B395-AE7E-877DB3CC8983}"/>
              </a:ext>
            </a:extLst>
          </p:cNvPr>
          <p:cNvSpPr/>
          <p:nvPr/>
        </p:nvSpPr>
        <p:spPr>
          <a:xfrm>
            <a:off x="7810500" y="2349500"/>
            <a:ext cx="4064000" cy="3175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FE3062-95C8-A47F-2E0F-2196FA29D5B2}"/>
              </a:ext>
            </a:extLst>
          </p:cNvPr>
          <p:cNvSpPr txBox="1"/>
          <p:nvPr/>
        </p:nvSpPr>
        <p:spPr>
          <a:xfrm>
            <a:off x="7874000" y="2362200"/>
            <a:ext cx="203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>
                <a:solidFill>
                  <a:srgbClr val="5C3A1B"/>
                </a:solidFill>
                <a:latin typeface="Consolas" panose="020B0609020204030204" pitchFamily="49" charset="0"/>
              </a:rPr>
              <a:t>2019-01-22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FFEB49-AF77-8718-02BB-368128957214}"/>
              </a:ext>
            </a:extLst>
          </p:cNvPr>
          <p:cNvSpPr txBox="1"/>
          <p:nvPr/>
        </p:nvSpPr>
        <p:spPr>
          <a:xfrm>
            <a:off x="10033000" y="2362200"/>
            <a:ext cx="177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 b="1">
                <a:solidFill>
                  <a:srgbClr val="156432"/>
                </a:solidFill>
                <a:latin typeface="Consolas" panose="020B0609020204030204" pitchFamily="49" charset="0"/>
              </a:rPr>
              <a:t>$2,059.98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DE0B74-E1B1-3E98-0C61-A22190717570}"/>
              </a:ext>
            </a:extLst>
          </p:cNvPr>
          <p:cNvSpPr/>
          <p:nvPr/>
        </p:nvSpPr>
        <p:spPr>
          <a:xfrm>
            <a:off x="7810500" y="2667000"/>
            <a:ext cx="4064000" cy="317500"/>
          </a:xfrm>
          <a:prstGeom prst="rect">
            <a:avLst/>
          </a:prstGeom>
          <a:solidFill>
            <a:srgbClr val="EBF2FA"/>
          </a:solidFill>
          <a:ln w="6350">
            <a:solidFill>
              <a:srgbClr val="DC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3A3992-BE23-EA38-D509-A30F8DDBD228}"/>
              </a:ext>
            </a:extLst>
          </p:cNvPr>
          <p:cNvSpPr txBox="1"/>
          <p:nvPr/>
        </p:nvSpPr>
        <p:spPr>
          <a:xfrm>
            <a:off x="7874000" y="2679700"/>
            <a:ext cx="203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>
                <a:solidFill>
                  <a:srgbClr val="5C3A1B"/>
                </a:solidFill>
                <a:latin typeface="Consolas" panose="020B0609020204030204" pitchFamily="49" charset="0"/>
              </a:rPr>
              <a:t>2019-01-23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21B35D-4B16-8BAC-17B7-207B033A576B}"/>
              </a:ext>
            </a:extLst>
          </p:cNvPr>
          <p:cNvSpPr txBox="1"/>
          <p:nvPr/>
        </p:nvSpPr>
        <p:spPr>
          <a:xfrm>
            <a:off x="10033000" y="2679700"/>
            <a:ext cx="177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 b="1">
                <a:solidFill>
                  <a:srgbClr val="156432"/>
                </a:solidFill>
                <a:latin typeface="Consolas" panose="020B0609020204030204" pitchFamily="49" charset="0"/>
              </a:rPr>
              <a:t>$1,632.26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25669F-9A3C-7293-0B09-9B1C6FE6EA15}"/>
              </a:ext>
            </a:extLst>
          </p:cNvPr>
          <p:cNvSpPr/>
          <p:nvPr/>
        </p:nvSpPr>
        <p:spPr>
          <a:xfrm>
            <a:off x="7810500" y="2984500"/>
            <a:ext cx="4064000" cy="3175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35B4FC-0E82-2862-322B-D04E10EFA5AB}"/>
              </a:ext>
            </a:extLst>
          </p:cNvPr>
          <p:cNvSpPr txBox="1"/>
          <p:nvPr/>
        </p:nvSpPr>
        <p:spPr>
          <a:xfrm>
            <a:off x="7874000" y="2997200"/>
            <a:ext cx="203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>
                <a:solidFill>
                  <a:srgbClr val="5C3A1B"/>
                </a:solidFill>
                <a:latin typeface="Consolas" panose="020B0609020204030204" pitchFamily="49" charset="0"/>
              </a:rPr>
              <a:t>2019-01-24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BDA7C0-908F-49AE-83B1-1F982C740C8A}"/>
              </a:ext>
            </a:extLst>
          </p:cNvPr>
          <p:cNvSpPr txBox="1"/>
          <p:nvPr/>
        </p:nvSpPr>
        <p:spPr>
          <a:xfrm>
            <a:off x="10033000" y="2997200"/>
            <a:ext cx="177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 b="1">
                <a:solidFill>
                  <a:srgbClr val="156432"/>
                </a:solidFill>
                <a:latin typeface="Consolas" panose="020B0609020204030204" pitchFamily="49" charset="0"/>
              </a:rPr>
              <a:t>$1,093.64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7974F8-4320-A31C-D331-435568019C70}"/>
              </a:ext>
            </a:extLst>
          </p:cNvPr>
          <p:cNvSpPr/>
          <p:nvPr/>
        </p:nvSpPr>
        <p:spPr>
          <a:xfrm>
            <a:off x="7810500" y="3302000"/>
            <a:ext cx="4064000" cy="317500"/>
          </a:xfrm>
          <a:prstGeom prst="rect">
            <a:avLst/>
          </a:prstGeom>
          <a:solidFill>
            <a:srgbClr val="EBF2FA"/>
          </a:solidFill>
          <a:ln w="6350">
            <a:solidFill>
              <a:srgbClr val="DC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7C0522-30EE-53EF-D055-7BBFE1CBB7C8}"/>
              </a:ext>
            </a:extLst>
          </p:cNvPr>
          <p:cNvSpPr txBox="1"/>
          <p:nvPr/>
        </p:nvSpPr>
        <p:spPr>
          <a:xfrm>
            <a:off x="7874000" y="3314700"/>
            <a:ext cx="203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>
                <a:solidFill>
                  <a:srgbClr val="5C3A1B"/>
                </a:solidFill>
                <a:latin typeface="Consolas" panose="020B0609020204030204" pitchFamily="49" charset="0"/>
              </a:rPr>
              <a:t>2019-01-25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2BD4C8-E08B-CFA4-60B2-20F2F22D0A6B}"/>
              </a:ext>
            </a:extLst>
          </p:cNvPr>
          <p:cNvSpPr txBox="1"/>
          <p:nvPr/>
        </p:nvSpPr>
        <p:spPr>
          <a:xfrm>
            <a:off x="10033000" y="3314700"/>
            <a:ext cx="177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 b="1">
                <a:solidFill>
                  <a:srgbClr val="156432"/>
                </a:solidFill>
                <a:latin typeface="Consolas" panose="020B0609020204030204" pitchFamily="49" charset="0"/>
              </a:rPr>
              <a:t>$1,746.83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C8623B-202F-6C2A-D7EF-372BEE486F3A}"/>
              </a:ext>
            </a:extLst>
          </p:cNvPr>
          <p:cNvSpPr/>
          <p:nvPr/>
        </p:nvSpPr>
        <p:spPr>
          <a:xfrm>
            <a:off x="7810500" y="3619500"/>
            <a:ext cx="4064000" cy="3175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D98CDD-9C1D-7A95-5AAC-1AA85B7B0302}"/>
              </a:ext>
            </a:extLst>
          </p:cNvPr>
          <p:cNvSpPr txBox="1"/>
          <p:nvPr/>
        </p:nvSpPr>
        <p:spPr>
          <a:xfrm>
            <a:off x="7874000" y="3632200"/>
            <a:ext cx="203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>
                <a:solidFill>
                  <a:srgbClr val="5C3A1B"/>
                </a:solidFill>
                <a:latin typeface="Consolas" panose="020B0609020204030204" pitchFamily="49" charset="0"/>
              </a:rPr>
              <a:t>2019-01-26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EDB4C4-9262-3356-5D31-006398410EAD}"/>
              </a:ext>
            </a:extLst>
          </p:cNvPr>
          <p:cNvSpPr txBox="1"/>
          <p:nvPr/>
        </p:nvSpPr>
        <p:spPr>
          <a:xfrm>
            <a:off x="10033000" y="3632200"/>
            <a:ext cx="177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 b="1">
                <a:solidFill>
                  <a:srgbClr val="156432"/>
                </a:solidFill>
                <a:latin typeface="Consolas" panose="020B0609020204030204" pitchFamily="49" charset="0"/>
              </a:rPr>
              <a:t>$2,214.56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854E18F-678F-852F-E744-9186C4F7C09C}"/>
              </a:ext>
            </a:extLst>
          </p:cNvPr>
          <p:cNvSpPr/>
          <p:nvPr/>
        </p:nvSpPr>
        <p:spPr>
          <a:xfrm>
            <a:off x="7810500" y="3937000"/>
            <a:ext cx="4064000" cy="317500"/>
          </a:xfrm>
          <a:prstGeom prst="rect">
            <a:avLst/>
          </a:prstGeom>
          <a:solidFill>
            <a:srgbClr val="EBF2FA"/>
          </a:solidFill>
          <a:ln w="6350">
            <a:solidFill>
              <a:srgbClr val="DC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56D428-A5F0-08D8-6B7C-48069CAFB46D}"/>
              </a:ext>
            </a:extLst>
          </p:cNvPr>
          <p:cNvSpPr txBox="1"/>
          <p:nvPr/>
        </p:nvSpPr>
        <p:spPr>
          <a:xfrm>
            <a:off x="7874000" y="3949700"/>
            <a:ext cx="203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>
                <a:solidFill>
                  <a:srgbClr val="5C3A1B"/>
                </a:solidFill>
                <a:latin typeface="Consolas" panose="020B0609020204030204" pitchFamily="49" charset="0"/>
              </a:rPr>
              <a:t>2019-01-27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596D5A-2071-0685-768C-5F29565320A6}"/>
              </a:ext>
            </a:extLst>
          </p:cNvPr>
          <p:cNvSpPr txBox="1"/>
          <p:nvPr/>
        </p:nvSpPr>
        <p:spPr>
          <a:xfrm>
            <a:off x="10033000" y="3949700"/>
            <a:ext cx="177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 b="1">
                <a:solidFill>
                  <a:srgbClr val="156432"/>
                </a:solidFill>
                <a:latin typeface="Consolas" panose="020B0609020204030204" pitchFamily="49" charset="0"/>
              </a:rPr>
              <a:t>$2,000.64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3D6C2A4-5029-3CCF-AB18-2481A4BF2EB0}"/>
              </a:ext>
            </a:extLst>
          </p:cNvPr>
          <p:cNvSpPr/>
          <p:nvPr/>
        </p:nvSpPr>
        <p:spPr>
          <a:xfrm>
            <a:off x="7810500" y="4254500"/>
            <a:ext cx="4064000" cy="3175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297457-EC78-0246-F8DF-6B522BA197DA}"/>
              </a:ext>
            </a:extLst>
          </p:cNvPr>
          <p:cNvSpPr txBox="1"/>
          <p:nvPr/>
        </p:nvSpPr>
        <p:spPr>
          <a:xfrm>
            <a:off x="7874000" y="4267200"/>
            <a:ext cx="203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>
                <a:solidFill>
                  <a:srgbClr val="5C3A1B"/>
                </a:solidFill>
                <a:latin typeface="Consolas" panose="020B0609020204030204" pitchFamily="49" charset="0"/>
              </a:rPr>
              <a:t>2019-01-28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D74441-330A-14A1-2B78-0E3A0E3E69B3}"/>
              </a:ext>
            </a:extLst>
          </p:cNvPr>
          <p:cNvSpPr txBox="1"/>
          <p:nvPr/>
        </p:nvSpPr>
        <p:spPr>
          <a:xfrm>
            <a:off x="10033000" y="4267200"/>
            <a:ext cx="177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 b="1">
                <a:solidFill>
                  <a:srgbClr val="156432"/>
                </a:solidFill>
                <a:latin typeface="Consolas" panose="020B0609020204030204" pitchFamily="49" charset="0"/>
              </a:rPr>
              <a:t>$1,907.60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C12FF63-E9A8-AD0D-06BD-94A798AC01AB}"/>
              </a:ext>
            </a:extLst>
          </p:cNvPr>
          <p:cNvSpPr/>
          <p:nvPr/>
        </p:nvSpPr>
        <p:spPr>
          <a:xfrm>
            <a:off x="7810500" y="4572000"/>
            <a:ext cx="4064000" cy="317500"/>
          </a:xfrm>
          <a:prstGeom prst="rect">
            <a:avLst/>
          </a:prstGeom>
          <a:solidFill>
            <a:srgbClr val="EBF2FA"/>
          </a:solidFill>
          <a:ln w="6350">
            <a:solidFill>
              <a:srgbClr val="DCE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444FAE-668B-9070-460E-627815F6403C}"/>
              </a:ext>
            </a:extLst>
          </p:cNvPr>
          <p:cNvSpPr txBox="1"/>
          <p:nvPr/>
        </p:nvSpPr>
        <p:spPr>
          <a:xfrm>
            <a:off x="7874000" y="4584700"/>
            <a:ext cx="203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>
                <a:solidFill>
                  <a:srgbClr val="5C3A1B"/>
                </a:solidFill>
                <a:latin typeface="Consolas" panose="020B0609020204030204" pitchFamily="49" charset="0"/>
              </a:rPr>
              <a:t>2019-01-29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5E59E9-EAF6-A782-A204-7293357749FF}"/>
              </a:ext>
            </a:extLst>
          </p:cNvPr>
          <p:cNvSpPr txBox="1"/>
          <p:nvPr/>
        </p:nvSpPr>
        <p:spPr>
          <a:xfrm>
            <a:off x="10033000" y="4584700"/>
            <a:ext cx="177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 b="1">
                <a:solidFill>
                  <a:srgbClr val="156432"/>
                </a:solidFill>
                <a:latin typeface="Consolas" panose="020B0609020204030204" pitchFamily="49" charset="0"/>
              </a:rPr>
              <a:t>$2,267.37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A50DBC01-75DA-C470-FBCF-CB44A483A3D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5016500"/>
            <a:ext cx="7112000" cy="1651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D632471-1E4A-D7F0-33CF-A0756F01894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500" y="4953000"/>
            <a:ext cx="4064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539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FD36FC-D70C-DB5C-5941-5FE8C394A08B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9B6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9D98C0-E10A-9F00-02D0-876332B23BC0}"/>
              </a:ext>
            </a:extLst>
          </p:cNvPr>
          <p:cNvSpPr txBox="1"/>
          <p:nvPr/>
        </p:nvSpPr>
        <p:spPr>
          <a:xfrm>
            <a:off x="508000" y="381000"/>
            <a:ext cx="11176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400" b="1">
                <a:solidFill>
                  <a:srgbClr val="FFFFFF"/>
                </a:solidFill>
                <a:latin typeface="Calibri" panose="020F0502020204030204" pitchFamily="34" charset="0"/>
              </a:rPr>
              <a:t>Results, Impact &amp; Conclusion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92C7D1D-2DF8-6D97-CB36-936369629793}"/>
              </a:ext>
            </a:extLst>
          </p:cNvPr>
          <p:cNvSpPr/>
          <p:nvPr/>
        </p:nvSpPr>
        <p:spPr>
          <a:xfrm>
            <a:off x="508000" y="1333500"/>
            <a:ext cx="3429000" cy="3175000"/>
          </a:xfrm>
          <a:prstGeom prst="roundRect">
            <a:avLst/>
          </a:prstGeom>
          <a:solidFill>
            <a:srgbClr val="153052"/>
          </a:solidFill>
          <a:ln w="19050">
            <a:solidFill>
              <a:srgbClr val="F443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86A15C0-1C79-609D-B95E-EE3D63EB3F6E}"/>
              </a:ext>
            </a:extLst>
          </p:cNvPr>
          <p:cNvSpPr/>
          <p:nvPr/>
        </p:nvSpPr>
        <p:spPr>
          <a:xfrm>
            <a:off x="762000" y="1524000"/>
            <a:ext cx="635000" cy="635000"/>
          </a:xfrm>
          <a:prstGeom prst="ellipse">
            <a:avLst/>
          </a:prstGeom>
          <a:solidFill>
            <a:srgbClr val="F443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</a:rPr>
              <a:t>1.</a:t>
            </a:r>
            <a:endParaRPr lang="en-IN" sz="2200" b="1" dirty="0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37E8D3-2F63-D386-4976-A9FBBBF789D6}"/>
              </a:ext>
            </a:extLst>
          </p:cNvPr>
          <p:cNvSpPr txBox="1"/>
          <p:nvPr/>
        </p:nvSpPr>
        <p:spPr>
          <a:xfrm>
            <a:off x="635000" y="2286000"/>
            <a:ext cx="317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 dirty="0">
                <a:solidFill>
                  <a:srgbClr val="F44336"/>
                </a:solidFill>
              </a:rPr>
              <a:t>Sales Decline Detected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8A6D7B-6E92-9AFF-E0F4-9A62FABBFA88}"/>
              </a:ext>
            </a:extLst>
          </p:cNvPr>
          <p:cNvSpPr txBox="1"/>
          <p:nvPr/>
        </p:nvSpPr>
        <p:spPr>
          <a:xfrm>
            <a:off x="635000" y="2794000"/>
            <a:ext cx="3175000" cy="7386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B0D2F0"/>
                </a:solidFill>
                <a:latin typeface="Calibri" panose="020F0502020204030204" pitchFamily="34" charset="0"/>
              </a:rPr>
              <a:t>Trigger targeted discounts &amp; marketing campaigns to boost demand before shortfall occurs.</a:t>
            </a:r>
            <a:endParaRPr lang="en-IN" sz="1400" dirty="0">
              <a:solidFill>
                <a:srgbClr val="B0D2F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D53E04-0303-2914-3C7B-98522DD6327C}"/>
              </a:ext>
            </a:extLst>
          </p:cNvPr>
          <p:cNvSpPr/>
          <p:nvPr/>
        </p:nvSpPr>
        <p:spPr>
          <a:xfrm>
            <a:off x="4318000" y="1333500"/>
            <a:ext cx="3429000" cy="3175000"/>
          </a:xfrm>
          <a:prstGeom prst="roundRect">
            <a:avLst/>
          </a:prstGeom>
          <a:solidFill>
            <a:srgbClr val="153052"/>
          </a:solidFill>
          <a:ln w="19050">
            <a:solidFill>
              <a:srgbClr val="4CAF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F2B73F5-7FF1-63E6-015E-35B11496C812}"/>
              </a:ext>
            </a:extLst>
          </p:cNvPr>
          <p:cNvSpPr/>
          <p:nvPr/>
        </p:nvSpPr>
        <p:spPr>
          <a:xfrm>
            <a:off x="4572000" y="1524000"/>
            <a:ext cx="635000" cy="635000"/>
          </a:xfrm>
          <a:prstGeom prst="ellipse">
            <a:avLst/>
          </a:prstGeom>
          <a:solidFill>
            <a:srgbClr val="4CAF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</a:rPr>
              <a:t>2.</a:t>
            </a:r>
            <a:endParaRPr lang="en-IN" sz="2200" b="1" dirty="0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F1DB6F-916E-CF18-85F0-30AFC6914513}"/>
              </a:ext>
            </a:extLst>
          </p:cNvPr>
          <p:cNvSpPr txBox="1"/>
          <p:nvPr/>
        </p:nvSpPr>
        <p:spPr>
          <a:xfrm>
            <a:off x="4445000" y="2286000"/>
            <a:ext cx="317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 dirty="0">
                <a:solidFill>
                  <a:srgbClr val="4CAF50"/>
                </a:solidFill>
              </a:rPr>
              <a:t>Sales Surge Predicted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FC2A5D-EFBD-B35D-6562-7191BDB9BF37}"/>
              </a:ext>
            </a:extLst>
          </p:cNvPr>
          <p:cNvSpPr txBox="1"/>
          <p:nvPr/>
        </p:nvSpPr>
        <p:spPr>
          <a:xfrm>
            <a:off x="4445000" y="2794000"/>
            <a:ext cx="3175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B0D2F0"/>
                </a:solidFill>
                <a:latin typeface="Calibri" panose="020F0502020204030204" pitchFamily="34" charset="0"/>
              </a:rPr>
              <a:t>Proactively increase inventory ordering to meet demand without stockouts.</a:t>
            </a:r>
            <a:endParaRPr lang="en-IN" sz="1400" dirty="0">
              <a:solidFill>
                <a:srgbClr val="B0D2F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4C53AB6-26D9-B8BE-AE57-CF57C6853D31}"/>
              </a:ext>
            </a:extLst>
          </p:cNvPr>
          <p:cNvSpPr/>
          <p:nvPr/>
        </p:nvSpPr>
        <p:spPr>
          <a:xfrm>
            <a:off x="8128000" y="1333500"/>
            <a:ext cx="3429000" cy="3175000"/>
          </a:xfrm>
          <a:prstGeom prst="roundRect">
            <a:avLst/>
          </a:prstGeom>
          <a:solidFill>
            <a:srgbClr val="153052"/>
          </a:solidFill>
          <a:ln w="19050">
            <a:solidFill>
              <a:srgbClr val="29B6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7097D2F-1095-A483-8AC4-DCFCFC49C485}"/>
              </a:ext>
            </a:extLst>
          </p:cNvPr>
          <p:cNvSpPr/>
          <p:nvPr/>
        </p:nvSpPr>
        <p:spPr>
          <a:xfrm>
            <a:off x="8382000" y="1524000"/>
            <a:ext cx="635000" cy="635000"/>
          </a:xfrm>
          <a:prstGeom prst="ellipse">
            <a:avLst/>
          </a:prstGeom>
          <a:solidFill>
            <a:srgbClr val="29B6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</a:rPr>
              <a:t>3</a:t>
            </a:r>
            <a:r>
              <a:rPr lang="en-IN" sz="2200" b="1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C71028-08F9-0CB0-F3C8-310E5AFA77AE}"/>
              </a:ext>
            </a:extLst>
          </p:cNvPr>
          <p:cNvSpPr txBox="1"/>
          <p:nvPr/>
        </p:nvSpPr>
        <p:spPr>
          <a:xfrm>
            <a:off x="8255000" y="2286000"/>
            <a:ext cx="317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 dirty="0">
                <a:solidFill>
                  <a:srgbClr val="29B6F6"/>
                </a:solidFill>
              </a:rPr>
              <a:t>Supply Chain Stability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78113C-8B59-A160-C43B-5D735D7987C0}"/>
              </a:ext>
            </a:extLst>
          </p:cNvPr>
          <p:cNvSpPr txBox="1"/>
          <p:nvPr/>
        </p:nvSpPr>
        <p:spPr>
          <a:xfrm>
            <a:off x="8255000" y="2794000"/>
            <a:ext cx="3175000" cy="7386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B0D2F0"/>
                </a:solidFill>
                <a:latin typeface="Calibri" panose="020F0502020204030204" pitchFamily="34" charset="0"/>
              </a:rPr>
              <a:t>Precise forecasts prevent over-manufacturing, reduce waste and stabilize local distribution.</a:t>
            </a:r>
            <a:endParaRPr lang="en-IN" sz="1400" dirty="0">
              <a:solidFill>
                <a:srgbClr val="B0D2F0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56212C1-A447-D3EC-84FE-878E92EBCCB4}"/>
              </a:ext>
            </a:extLst>
          </p:cNvPr>
          <p:cNvSpPr/>
          <p:nvPr/>
        </p:nvSpPr>
        <p:spPr>
          <a:xfrm>
            <a:off x="508000" y="4699000"/>
            <a:ext cx="11176000" cy="1143000"/>
          </a:xfrm>
          <a:prstGeom prst="roundRect">
            <a:avLst/>
          </a:prstGeom>
          <a:solidFill>
            <a:srgbClr val="29B6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77800" rIns="254000" rtlCol="0" anchor="ctr"/>
          <a:lstStyle/>
          <a:p>
            <a:pPr algn="ctr"/>
            <a:r>
              <a:rPr lang="en-US" sz="1500" b="1">
                <a:solidFill>
                  <a:srgbClr val="061521"/>
                </a:solidFill>
                <a:latin typeface="Calibri" panose="020F0502020204030204" pitchFamily="34" charset="0"/>
              </a:rPr>
              <a:t>Prophet successfully captured historical sales nuances — transitioning retail strategy from reactive management to proactive, AI-driven foresight.</a:t>
            </a:r>
            <a:endParaRPr lang="en-IN" sz="1500" b="1">
              <a:solidFill>
                <a:srgbClr val="06152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077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647</Words>
  <Application>Microsoft Office PowerPoint</Application>
  <PresentationFormat>Widescreen</PresentationFormat>
  <Paragraphs>106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Soumya Raj</dc:creator>
  <cp:lastModifiedBy>Madhur Anand</cp:lastModifiedBy>
  <cp:revision>2</cp:revision>
  <dcterms:created xsi:type="dcterms:W3CDTF">2026-04-08T14:02:47Z</dcterms:created>
  <dcterms:modified xsi:type="dcterms:W3CDTF">2026-04-08T16:50:20Z</dcterms:modified>
</cp:coreProperties>
</file>