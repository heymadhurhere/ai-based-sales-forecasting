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18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6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60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9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81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7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8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36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0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9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7226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500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479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75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05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341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874B-3E2C-150A-F46D-1B0E37D1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352FB-35EE-27FD-D534-47CF956A0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EEAD-45B5-D80F-F97E-E2235884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B80DC-E4C7-6206-DA05-96F13D70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753E7-A2E1-F8A0-1A46-8BDA50A3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7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8541D0-4500-4D05-AE50-DA66C5E17F9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0AABE-56A3-472D-A659-37E4B7EF1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26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0CE1-8FB3-B219-E1BE-F2C7794CC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0439"/>
            <a:ext cx="9144000" cy="1358490"/>
          </a:xfrm>
        </p:spPr>
        <p:txBody>
          <a:bodyPr/>
          <a:lstStyle/>
          <a:p>
            <a:r>
              <a:rPr lang="en-IN" sz="6000" b="1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Sales Forecasting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6D012-3B55-15E5-DB4E-EB0A5A657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6109"/>
            <a:ext cx="9144000" cy="1002891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rgbClr val="FFC000"/>
                </a:solidFill>
                <a:latin typeface="Arial Black" panose="020B0A04020102020204" pitchFamily="34" charset="0"/>
              </a:rPr>
              <a:t>End-to-End Implementation on Microsoft Fabric</a:t>
            </a:r>
          </a:p>
          <a:p>
            <a:r>
              <a:rPr lang="en-IN" dirty="0">
                <a:solidFill>
                  <a:srgbClr val="FFC000"/>
                </a:solidFill>
                <a:latin typeface="Arial Black" panose="020B0A04020102020204" pitchFamily="34" charset="0"/>
              </a:rPr>
              <a:t>Data Engineering, ML, &amp; GenAI Integration</a:t>
            </a:r>
          </a:p>
          <a:p>
            <a:endParaRPr lang="en-IN" dirty="0"/>
          </a:p>
          <a:p>
            <a:r>
              <a:rPr lang="en-IN" u="sng" dirty="0">
                <a:solidFill>
                  <a:srgbClr val="92D050"/>
                </a:solidFill>
              </a:rPr>
              <a:t>Presented by:</a:t>
            </a:r>
          </a:p>
          <a:p>
            <a:r>
              <a:rPr lang="en-IN" dirty="0"/>
              <a:t>Suyash Jadhav - BTECH/10779/23</a:t>
            </a:r>
          </a:p>
          <a:p>
            <a:r>
              <a:rPr lang="en-IN" dirty="0"/>
              <a:t>Shubham Raj - BTECH/10820/23</a:t>
            </a:r>
          </a:p>
          <a:p>
            <a:r>
              <a:rPr lang="en-IN" dirty="0"/>
              <a:t>Shrishti Mishra - BTECH/10612/23</a:t>
            </a:r>
          </a:p>
          <a:p>
            <a:r>
              <a:rPr lang="en-IN" dirty="0"/>
              <a:t>Mihika Lakra - BTECH/10580/23</a:t>
            </a:r>
          </a:p>
          <a:p>
            <a:r>
              <a:rPr lang="en-IN" dirty="0"/>
              <a:t>Madhur Anand - BTECH/10650/23</a:t>
            </a:r>
          </a:p>
        </p:txBody>
      </p:sp>
    </p:spTree>
    <p:extLst>
      <p:ext uri="{BB962C8B-B14F-4D97-AF65-F5344CB8AC3E}">
        <p14:creationId xmlns:p14="http://schemas.microsoft.com/office/powerpoint/2010/main" val="77601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3BB4-CB0B-1427-A166-24A98911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572CA-12E1-861F-FEEB-EEF088631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 unified AI solution combining predictive analytics and natural language querying:</a:t>
            </a:r>
          </a:p>
          <a:p>
            <a:r>
              <a:rPr lang="en-US"/>
              <a:t>• Goal: Predict future sales and allow business users to 'chat' with their data.</a:t>
            </a:r>
          </a:p>
          <a:p>
            <a:r>
              <a:rPr lang="en-US"/>
              <a:t>• Platform: Microsoft Fabric (OneLake, Synapse Data Science, SQL Analytics Endpoint).</a:t>
            </a:r>
          </a:p>
          <a:p>
            <a:r>
              <a:rPr lang="en-US"/>
              <a:t>• Methodology: Ingest 3 years of data, train a time-series model, and deploy a LangChain / Fabric Data Agent.</a:t>
            </a:r>
          </a:p>
          <a:p>
            <a:r>
              <a:rPr lang="en-US"/>
              <a:t>• Output: 30-day automated forecasts accessible via natural language.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00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F694-BCAB-DC71-7804-DE2EDDA7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Tools &amp; Technologies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03E13-FBAF-2C1F-8AA4-5774BFAAD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• Data Engineering:</a:t>
            </a:r>
          </a:p>
          <a:p>
            <a:r>
              <a:rPr lang="en-IN"/>
              <a:t>    - PySpark (Data processing &amp; aggregation)</a:t>
            </a:r>
          </a:p>
          <a:p>
            <a:r>
              <a:rPr lang="en-IN"/>
              <a:t>    - Delta Lake (ACID compliant storage for SalesData)</a:t>
            </a:r>
          </a:p>
          <a:p>
            <a:r>
              <a:rPr lang="en-IN"/>
              <a:t>• Machine Learning:</a:t>
            </a:r>
          </a:p>
          <a:p>
            <a:r>
              <a:rPr lang="en-IN"/>
              <a:t>    - Facebook Prophet (Time-series forecasting)</a:t>
            </a:r>
          </a:p>
          <a:p>
            <a:r>
              <a:rPr lang="en-IN"/>
              <a:t>    - MLflow (Model registry &amp; hyperparameter tracking)</a:t>
            </a:r>
          </a:p>
          <a:p>
            <a:r>
              <a:rPr lang="en-IN"/>
              <a:t>• Generative AI &amp; Interactivity:</a:t>
            </a:r>
          </a:p>
          <a:p>
            <a:r>
              <a:rPr lang="en-IN"/>
              <a:t>    - Azure OpenAI (GPT-4 / GPT-4o deployments)</a:t>
            </a:r>
          </a:p>
          <a:p>
            <a:r>
              <a:rPr lang="en-IN"/>
              <a:t>    - LangChain (SQL Agent &amp; toolkits)</a:t>
            </a:r>
          </a:p>
          <a:p>
            <a:r>
              <a:rPr lang="en-IN"/>
              <a:t>    - PyODBC &amp; SQLAlchemy (Database connectivity)</a:t>
            </a:r>
          </a:p>
        </p:txBody>
      </p:sp>
    </p:spTree>
    <p:extLst>
      <p:ext uri="{BB962C8B-B14F-4D97-AF65-F5344CB8AC3E}">
        <p14:creationId xmlns:p14="http://schemas.microsoft.com/office/powerpoint/2010/main" val="428482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65FC-AD90-E396-F16B-D01B6C31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System Architecture &amp;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4945D-2732-59CB-1B4B-036371B06E93}"/>
              </a:ext>
            </a:extLst>
          </p:cNvPr>
          <p:cNvSpPr/>
          <p:nvPr/>
        </p:nvSpPr>
        <p:spPr>
          <a:xfrm>
            <a:off x="635000" y="2540000"/>
            <a:ext cx="2032000" cy="1016000"/>
          </a:xfrm>
          <a:prstGeom prst="rect">
            <a:avLst/>
          </a:prstGeom>
          <a:solidFill>
            <a:srgbClr val="219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1. Data Ingestion</a:t>
            </a:r>
          </a:p>
          <a:p>
            <a:pPr algn="ctr"/>
            <a:r>
              <a:rPr lang="en-IN"/>
              <a:t>(PySpark &amp; Delta)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E123BE9-B77C-BFD9-73F4-A9040D814C09}"/>
              </a:ext>
            </a:extLst>
          </p:cNvPr>
          <p:cNvSpPr/>
          <p:nvPr/>
        </p:nvSpPr>
        <p:spPr>
          <a:xfrm>
            <a:off x="2667000" y="2857500"/>
            <a:ext cx="508000" cy="381000"/>
          </a:xfrm>
          <a:prstGeom prst="rightArrow">
            <a:avLst/>
          </a:prstGeom>
          <a:solidFill>
            <a:srgbClr val="96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1A869-4613-5392-1161-404781D41591}"/>
              </a:ext>
            </a:extLst>
          </p:cNvPr>
          <p:cNvSpPr/>
          <p:nvPr/>
        </p:nvSpPr>
        <p:spPr>
          <a:xfrm>
            <a:off x="3175000" y="2540000"/>
            <a:ext cx="2032000" cy="1016000"/>
          </a:xfrm>
          <a:prstGeom prst="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2. Lakehouse</a:t>
            </a:r>
          </a:p>
          <a:p>
            <a:pPr algn="ctr"/>
            <a:r>
              <a:rPr lang="en-IN"/>
              <a:t>(SalesData Tables)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AC33605-6FEE-FEDB-C07C-65AC7F9C27F3}"/>
              </a:ext>
            </a:extLst>
          </p:cNvPr>
          <p:cNvSpPr/>
          <p:nvPr/>
        </p:nvSpPr>
        <p:spPr>
          <a:xfrm>
            <a:off x="5207000" y="2857500"/>
            <a:ext cx="508000" cy="381000"/>
          </a:xfrm>
          <a:prstGeom prst="rightArrow">
            <a:avLst/>
          </a:prstGeom>
          <a:solidFill>
            <a:srgbClr val="96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E9719-7CB8-93D6-22A7-1ACAFD11C4D6}"/>
              </a:ext>
            </a:extLst>
          </p:cNvPr>
          <p:cNvSpPr/>
          <p:nvPr/>
        </p:nvSpPr>
        <p:spPr>
          <a:xfrm>
            <a:off x="5715000" y="2540000"/>
            <a:ext cx="2032000" cy="1016000"/>
          </a:xfrm>
          <a:prstGeom prst="rect">
            <a:avLst/>
          </a:prstGeom>
          <a:solidFill>
            <a:srgbClr val="FF9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3. MLflow Registry</a:t>
            </a:r>
          </a:p>
          <a:p>
            <a:pPr algn="ctr"/>
            <a:r>
              <a:rPr lang="en-US"/>
              <a:t>(Prophet Model)</a:t>
            </a:r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BBC8BB9-16D2-44C3-C523-F4B5C7B54A81}"/>
              </a:ext>
            </a:extLst>
          </p:cNvPr>
          <p:cNvSpPr/>
          <p:nvPr/>
        </p:nvSpPr>
        <p:spPr>
          <a:xfrm>
            <a:off x="7747000" y="2857500"/>
            <a:ext cx="508000" cy="381000"/>
          </a:xfrm>
          <a:prstGeom prst="rightArrow">
            <a:avLst/>
          </a:prstGeom>
          <a:solidFill>
            <a:srgbClr val="9696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55FD-A023-D21A-B5F2-408728953062}"/>
              </a:ext>
            </a:extLst>
          </p:cNvPr>
          <p:cNvSpPr/>
          <p:nvPr/>
        </p:nvSpPr>
        <p:spPr>
          <a:xfrm>
            <a:off x="8255000" y="2540000"/>
            <a:ext cx="2032000" cy="1016000"/>
          </a:xfrm>
          <a:prstGeom prst="rect">
            <a:avLst/>
          </a:prstGeom>
          <a:solidFill>
            <a:srgbClr val="673A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4. GenAI Agent</a:t>
            </a:r>
          </a:p>
          <a:p>
            <a:pPr algn="ctr"/>
            <a:r>
              <a:rPr lang="fr-FR"/>
              <a:t>(LangChain/GPT-4)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8D7DD-23BD-2398-FD63-D970485BA369}"/>
              </a:ext>
            </a:extLst>
          </p:cNvPr>
          <p:cNvSpPr txBox="1"/>
          <p:nvPr/>
        </p:nvSpPr>
        <p:spPr>
          <a:xfrm>
            <a:off x="635000" y="4064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Flow: Raw data is generated/ingested, cleaned and aggregated by day. The Prophet model trains on this historical data, generating a 30-day future forecast. Both past and future data are exposed to the AI Agent via the Fabric SQL Endpoint.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26120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6118-742D-7F5F-742B-EA427DFA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Phase 1: Data Engineering &amp; EDA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A185-4F19-8D4D-2772-2DB638CCD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Synthetic Generation: Simulated 3 years of daily sales (21.9k rows) factoring in trend, weekly, and yearly seasonality.</a:t>
            </a:r>
          </a:p>
          <a:p>
            <a:r>
              <a:rPr lang="en-US"/>
              <a:t>• Bronze Layer: Stored raw data in a Delta table ('SalesData').</a:t>
            </a:r>
          </a:p>
          <a:p>
            <a:r>
              <a:rPr lang="en-US"/>
              <a:t>• Quality Checks: Validated nulls, handled negative sales, and verified duplicates.</a:t>
            </a:r>
          </a:p>
          <a:p>
            <a:r>
              <a:rPr lang="en-US"/>
              <a:t>• Silver/Gold Layer: Aggregated transactions into 'SalesData_Daily_Aggregated' creating the exact 'ds' (date) and 'y' (target) schema required by Prophet.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38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2714-1DC2-065F-EF58-CAF6A491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Phase 2: Predictive </a:t>
            </a:r>
            <a:r>
              <a:rPr lang="en-IN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Modeling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1E6F0-6FD6-B4F0-1AEE-9F93F0611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Training: Utilized Facebook Prophet with multiplicative seasonality and a changepoint_prior_scale of 0.05.</a:t>
            </a:r>
          </a:p>
          <a:p>
            <a:r>
              <a:rPr lang="en-US"/>
              <a:t>• Tracking: MLflow automatically logged model parameters, signatures, and metrics (MAE, RMSE, MAPE).</a:t>
            </a:r>
          </a:p>
          <a:p>
            <a:r>
              <a:rPr lang="en-US"/>
              <a:t>• Registry: Model saved as 'prophet_sales_forecaster' in Fabric.</a:t>
            </a:r>
          </a:p>
          <a:p>
            <a:r>
              <a:rPr lang="en-US"/>
              <a:t>• Batch Scoring Pipeline: A scheduled PySpark notebook loads the latest model, predicts a 30-day horizon, calculates upper/lower confidence bounds, and overwrites the 'SalesForecasts' table.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8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501D-CAE1-A895-6417-59B63ADC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u="sng" dirty="0">
                <a:solidFill>
                  <a:srgbClr val="FFFF00"/>
                </a:solidFill>
                <a:latin typeface="Algerian" panose="04020705040A02060702" pitchFamily="82" charset="0"/>
              </a:rPr>
              <a:t>Phase 3: Conversational AI Interface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CA5F2-C196-D52D-34A3-CCBCB80CE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/>
              <a:t>Developed an intelligent routing agent to handle business queries:</a:t>
            </a:r>
          </a:p>
          <a:p>
            <a:r>
              <a:rPr lang="en-IN"/>
              <a:t>• Custom LangChain Approach: Used 'create_sql_agent' with Azure OpenAI (GPT-4).</a:t>
            </a:r>
          </a:p>
          <a:p>
            <a:r>
              <a:rPr lang="en-IN"/>
              <a:t>• Connectivity: Secured via ODBC Driver 18 hitting Fabric's SQL Analytics Endpoint.</a:t>
            </a:r>
          </a:p>
          <a:p>
            <a:r>
              <a:rPr lang="en-IN"/>
              <a:t>• System Prompt Logic: Agent is strictly instructed to query 'SalesData' for historical questions and 'SalesForecasts' for future/prediction questions.</a:t>
            </a:r>
          </a:p>
          <a:p>
            <a:r>
              <a:rPr lang="en-IN"/>
              <a:t>• No-Code Alternative: Configured a native Fabric Data Agent with few-shot example queries for seamless Microsoft Teams integration.</a:t>
            </a:r>
          </a:p>
        </p:txBody>
      </p:sp>
    </p:spTree>
    <p:extLst>
      <p:ext uri="{BB962C8B-B14F-4D97-AF65-F5344CB8AC3E}">
        <p14:creationId xmlns:p14="http://schemas.microsoft.com/office/powerpoint/2010/main" val="266548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36DC-5355-1F0F-5225-AD79AF50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Business Value &amp; Interactivity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C3C36-7831-B128-3225-D180DA9FD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users can now perform self-service analytics instantly:</a:t>
            </a:r>
          </a:p>
          <a:p>
            <a:r>
              <a:rPr lang="en-US"/>
              <a:t>• "What were the total sales by category in 2023?"</a:t>
            </a:r>
          </a:p>
          <a:p>
            <a:r>
              <a:rPr lang="en-US"/>
              <a:t>• "What is the total predicted sales for the next 30 days?"</a:t>
            </a:r>
          </a:p>
          <a:p>
            <a:r>
              <a:rPr lang="en-US"/>
              <a:t>• "Compare the predicted sales upper and lower bounds for next month."</a:t>
            </a:r>
          </a:p>
          <a:p>
            <a:r>
              <a:rPr lang="en-US"/>
              <a:t>Impact: Reduces dependency on data analysts for routine forecasting, democratizes AI access, and accelerates decision-making.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61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650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 Black</vt:lpstr>
      <vt:lpstr>Century Gothic</vt:lpstr>
      <vt:lpstr>Times New Roman</vt:lpstr>
      <vt:lpstr>Wingdings 3</vt:lpstr>
      <vt:lpstr>Ion</vt:lpstr>
      <vt:lpstr>AI Sales Forecasting Agent</vt:lpstr>
      <vt:lpstr>Executive Summary</vt:lpstr>
      <vt:lpstr>Tools &amp; Technologies Stack</vt:lpstr>
      <vt:lpstr>System Architecture &amp; Flow</vt:lpstr>
      <vt:lpstr>Phase 1: Data Engineering &amp; EDA</vt:lpstr>
      <vt:lpstr>Phase 2: Predictive Modeling</vt:lpstr>
      <vt:lpstr>Phase 3: Conversational AI Interface</vt:lpstr>
      <vt:lpstr>Business Value &amp; Interactivity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 Anand</dc:creator>
  <cp:lastModifiedBy>Madhur Anand</cp:lastModifiedBy>
  <cp:revision>1</cp:revision>
  <dcterms:created xsi:type="dcterms:W3CDTF">2026-03-30T13:12:53Z</dcterms:created>
  <dcterms:modified xsi:type="dcterms:W3CDTF">2026-03-30T13:16:09Z</dcterms:modified>
</cp:coreProperties>
</file>